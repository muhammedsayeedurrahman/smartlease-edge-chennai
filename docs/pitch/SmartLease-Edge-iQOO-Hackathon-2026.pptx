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 0:00-0:10. Say: 'SmartLease Edge turns the iQOO 15 into a property inspector. Point the camera, tap the wall, point the IR blaster at the AC, and in sixty seconds both tenant and landlord get a signed report. Nothing leaves the phone.'</a:t>
            </a:r>
          </a:p>
          <a:p/>
          <a:p>
            <a:r>
              <a:t>PITCH CUT (3-5 min final pitch): use slides 1, 2, 4, 5, 8, 9, 11, 12, 15. Idea-screening submission: all slides 1-15; 16-17 are appendix.</a:t>
            </a:r>
          </a:p>
          <a:p>
            <a:r>
              <a:t>Fill in team names and bucket before submitting. The app itself is real and running (see docs/JUDGE_DEMO_GUIDE.md); these two phone renders are mockup screens, not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 0:10-0:45. Hook with a person, not a market: Priya. Then the three numbers. Close on the root cause: no timestamped baseline.</a:t>
            </a:r>
          </a:p>
          <a:p>
            <a:r>
              <a:t>Sources on slide (all verifiable): Model Tenancy Act 2021 cap = 2 months residential (PRS India). Bengaluru 6-10 months is market practice, not law. '&gt;40% of disputes' is an industry estimate from rental portals (99acres/RentConnect), say 'industry estimate' out loud. NoBroker inspection price from its own listing.</a:t>
            </a:r>
          </a:p>
          <a:p>
            <a:r>
              <a:t>Do NOT use the older draft numbers (Rs 2,400 crore, 1.1 crore agreements, 38%) - no source was found for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 0:45-1:05. This slide answers the question every on-device-AI judge asks: is local execution essential or decorative? ExecuTorch hackathon organisers said winners were apps 'where local execution was essential to the product experience'. Here it is essential three ways.</a:t>
            </a:r>
          </a:p>
          <a:p>
            <a:r>
              <a:t>Sources: Qualcomm Snapdragon 8 Elite Gen 5 product brief (37% NPU). Gemma 4 load/narrate confirmed by GemmaLoadDeviceTest on the demo iQOO 15 (docs/GEMMA4_SETUP.md) -- tokens/sec not yet benchmarked, so we do not quote one. We switched from the originally planned Llama 3.2 3B/GenieX path to Gemma 4/.litertlm via LiteRT-LM after GenieX's MediaPipe runtime rejected the .litertlm container; say so plainly if asked why the model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 1:05-1:30. Walk the three phones left to right. One sentence each. Then the IR line: 'we test whether the AC works, not whether it looks fine'. That functional-test line is the novelty claim no competitor matches; land it every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 1:30-3:00 is the LIVE DEMO itself; this slide is the backdrop. One presenter narrates, one drives the phone. This is the actual Demo screen in the app (docs/JUDGE_DEMO_GUIDE.md), not a script for someone to act out -- every number the judge sees is computed fresh on that run.</a:t>
            </a:r>
          </a:p>
          <a:p>
            <a:r>
              <a:t>Telemetry: HackTracker scores creative phone use (camera, mic, on-device AI) and Office Kit usage from device data, so every step deliberately exercises a sensor.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Technical-depth slide. If asked 'why nano not a bigger model': nano fits HTP memory at 6 MB INT8 and hits 30 ms; larger models do not improve mAP meaningfully on wall defects. If asked accuracy of area: pinhole model, +/-10% with ARCore depth, +/-20% with typed distance. The segmenter itself is real and wired in (DefectSegmenterFactory prefers YoloSegDefectSegmenter, honest heuristic fallback) -- say 'targets' only for the latency/mAP numbers, not for whether the model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Creative phone use. Professional tile-sounding needs a trained inspector and dedicated tools; here the phone mic replaces them. Be explicit that the spectrogram figure is an illustrative signal model, not a plotted real recording, and that the trained classifier is a small logistic regression (not a CNN) fit on only 15 labelled taps -- say the 80% (55-93% CI) number and the sample size plainly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diagram, three processor lanes, like the Qualcomm Bengaluru winner GameSense (NPU = models, CPU = glue, plus the IR state machine). Point out the manifest has no INTERNET permission: that is the offline claim made verifiable in 2 seconds.</a:t>
            </a:r>
          </a:p>
          <a:p>
            <a:r>
              <a:t>If asked about the vivo Q3 co-processor: we do not target it (no public SDK); we use the Hexagon NPU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'Device Performance / Phone-first thinking' answer. Name the exact hardware and the exact job; generic 'we used the NPU' scores nothing. Specs verified against iQOO product page, GSMArena and 91mobiles.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Office Kit usage is 10% of the score and measured by telemetry (HackTracker), not by the pitch. So Office Kit must be used visibly and often: mirror, file transfer, remote control. Every model has a fallback so the demo never stalls; 'a well-built simple product beats a broken complex one' is the organiser's own motto.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Novelty slide. Say the narrow, defensible claim exactly as written. If a judge names zInspector or RentCheck, agree they have AI, then point to the two empty columns: offline and functional testing. Prices from vendor pages as of Aug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Judges punish decks that overclaim; JetBrains judges: 'be very direct about what works, what doesn't'. This slide is the credibility anchor. Everything in column 1 is in the GitHub repo today (app/src/main/java/com/smartlease/edge). Column 2 is honest about the one weak spot: the tap classifier is a real logistic-regression model, not a placeholder, but its training set is tiny (15 taps) and its accuracy CI is wide (55-93%) -- lead with that if a judge inspects the code, don't wait to be caught.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 sizing if asked: India's paid inspection-tool market is nascent; NoBroker is the only major domestic player. Distribution and trust are the bottleneck, not the tech. Say that plainly; it reads as market awareness. Business model: free for consumers, B2B2C licensing is the revenue anchor.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Weights are the published iQOO 2026 rubric (Reskilll/iQOO portal): 30/20/15/15/10/10, with 25% (phone use + Office Kit) measured from HackTracker device telemetry. Fill in names. If the team is mixed student/professional, note that buckets cannot mix.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 4:30-5:00. Slow down. One line: 'Let us in the room. The models are trained; the 30 hours are for integration and polish.' Then stop talking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slide. Do not present; open only when a question comes. Answers mirror the battle plan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statistic on the deck traces to one of these. If a judge challenges a number, name the source. Never use a number that is not on this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2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42B"/>
            </a:gs>
            <a:gs pos="100000">
              <a:srgbClr val="2D1A63"/>
            </a:gs>
          </a:gsLst>
          <a:lin scaled="0" ang="19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6949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5A623"/>
                </a:solidFill>
                <a:latin typeface="Segoe UI"/>
              </a:rPr>
              <a:t>IQOO HACKATHON 2026  ·  SMART LIVING TRACK  ·  CHENNAI CITY BATTLE  ·  SEP 12–13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694944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0" b="1" i="0">
                <a:solidFill>
                  <a:srgbClr val="FFFFFF"/>
                </a:solidFill>
                <a:latin typeface="Segoe UI"/>
              </a:rPr>
              <a:t>SmartLease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40280"/>
            <a:ext cx="6949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 i="0">
                <a:solidFill>
                  <a:srgbClr val="F1EEFA"/>
                </a:solidFill>
                <a:latin typeface="Segoe UI"/>
              </a:rPr>
              <a:t>Your phone is the property inspector.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66751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A9A6C2"/>
                </a:solidFill>
                <a:latin typeface="Segoe UI"/>
              </a:rPr>
              <a:t>Camera, microphone and IR blaster feed three on-device models on the iQOO 15 Hexagon NPU. Sixty seconds later, tenant and landlord hold one signed, tamper-evident move-out report. No internet at any step.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114800"/>
            <a:ext cx="1426464" cy="329184"/>
          </a:xfrm>
          <a:prstGeom prst="roundRect">
            <a:avLst>
              <a:gd name="adj" fmla="val 50000"/>
            </a:avLst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1426464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F5A623"/>
                </a:solidFill>
                <a:latin typeface="Segoe UI"/>
              </a:rPr>
              <a:t>100% OFFLINE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76272" y="4114800"/>
            <a:ext cx="3058668" cy="329184"/>
          </a:xfrm>
          <a:prstGeom prst="roundRect">
            <a:avLst>
              <a:gd name="adj" fmla="val 50000"/>
            </a:avLst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76272" y="4114800"/>
            <a:ext cx="3058668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F5A623"/>
                </a:solidFill>
                <a:latin typeface="Segoe UI"/>
              </a:rPr>
              <a:t>ON-DEVICE GEMMA 4 · LITERT-LM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535424"/>
            <a:ext cx="2578608" cy="329184"/>
          </a:xfrm>
          <a:prstGeom prst="roundRect">
            <a:avLst>
              <a:gd name="adj" fmla="val 50000"/>
            </a:avLst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535424"/>
            <a:ext cx="2578608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F5A623"/>
                </a:solidFill>
                <a:latin typeface="Segoe UI"/>
              </a:rPr>
              <a:t>SNAPDRAGON 8 ELITE GEN 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28415" y="4535424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28415" y="4535424"/>
            <a:ext cx="123444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F5A623"/>
                </a:solidFill>
                <a:latin typeface="Segoe UI"/>
              </a:rPr>
              <a:t>SIGNED 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83480"/>
            <a:ext cx="6949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1EEFA"/>
                </a:solidFill>
                <a:latin typeface="Segoe UI"/>
              </a:rPr>
              <a:t>TEAM  [Team name]  ·  Muhammed Sayeedur Rahman  ·  Mohammed Danish  ·  Prem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03520"/>
            <a:ext cx="6949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A9A6C2"/>
                </a:solidFill>
                <a:latin typeface="Segoe UI"/>
              </a:rPr>
              <a:t>[Student / Professional bucket]  ·  github.com/muhammedsayeedurrahman/smartlease-edge-chennai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960120"/>
            <a:ext cx="1874519" cy="3890772"/>
          </a:xfrm>
          <a:prstGeom prst="roundRect">
            <a:avLst>
              <a:gd name="adj" fmla="val 21951"/>
            </a:avLst>
          </a:prstGeom>
          <a:solidFill>
            <a:srgbClr val="0B0B1A"/>
          </a:solidFill>
          <a:ln w="15875">
            <a:solidFill>
              <a:srgbClr val="4A4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creen_v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272" y="1033272"/>
            <a:ext cx="1728216" cy="3744468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8709660" y="1088136"/>
            <a:ext cx="91440" cy="91440"/>
          </a:xfrm>
          <a:prstGeom prst="ellipse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829800" y="1691640"/>
            <a:ext cx="1874519" cy="3890772"/>
          </a:xfrm>
          <a:prstGeom prst="roundRect">
            <a:avLst>
              <a:gd name="adj" fmla="val 21951"/>
            </a:avLst>
          </a:prstGeom>
          <a:solidFill>
            <a:srgbClr val="0B0B1A"/>
          </a:solidFill>
          <a:ln w="15875">
            <a:solidFill>
              <a:srgbClr val="4A4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creen_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2952" y="1764792"/>
            <a:ext cx="1728216" cy="3744468"/>
          </a:xfrm>
          <a:prstGeom prst="rect">
            <a:avLst/>
          </a:prstGeom>
        </p:spPr>
      </p:pic>
      <p:sp>
        <p:nvSpPr>
          <p:cNvPr id="21" name="Oval 20"/>
          <p:cNvSpPr/>
          <p:nvPr/>
        </p:nvSpPr>
        <p:spPr>
          <a:xfrm>
            <a:off x="10721340" y="1819656"/>
            <a:ext cx="91440" cy="91440"/>
          </a:xfrm>
          <a:prstGeom prst="ellipse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6080760"/>
            <a:ext cx="3840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8D8AAB"/>
                </a:solidFill>
                <a:latin typeface="Segoe UI"/>
              </a:rPr>
              <a:t>Screens are illustrative mockups. Live demo runs the real pipeline on-device.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_crack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8778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5A623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87782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Move-out day in India is a memory contest, with up to ten months' rent at stake.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54312" y="41148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3224A"/>
          </a:solidFill>
          <a:ln w="12700">
            <a:solidFill>
              <a:srgbClr val="3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54312" y="411480"/>
            <a:ext cx="233172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A9A6C2"/>
                </a:solidFill>
                <a:latin typeface="Segoe UI"/>
              </a:rPr>
              <a:t>SCORES  </a:t>
            </a:r>
            <a:r>
              <a:rPr sz="950" b="1" i="0">
                <a:solidFill>
                  <a:srgbClr val="F5A623"/>
                </a:solidFill>
                <a:latin typeface="Segoe UI"/>
              </a:rPr>
              <a:t>NOVELTY &amp; IMPACT</a:t>
            </a:r>
            <a:r>
              <a:rPr sz="950" b="1" i="0">
                <a:solidFill>
                  <a:srgbClr val="FFFFFF"/>
                </a:solidFill>
                <a:latin typeface="Segoe UI"/>
              </a:rPr>
              <a:t>  20%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9525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SmartLease Edge · iQOO Hackathon 2026 · Chennai City Battle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7899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02 /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2743200" cy="868680"/>
          </a:xfrm>
          <a:prstGeom prst="rect">
            <a:avLst/>
          </a:prstGeom>
          <a:noFill/>
        </p:spPr>
        <p:txBody>
          <a:bodyPr wrap="square" lIns="45720" rIns="45720" tIns="18288" bIns="18288" anchor="b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F5A623"/>
                </a:solidFill>
                <a:latin typeface="Segoe UI"/>
              </a:rPr>
              <a:t>6–10 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79191"/>
            <a:ext cx="274320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A9A6C2"/>
                </a:solidFill>
                <a:latin typeface="Segoe UI"/>
              </a:rPr>
              <a:t>rent held as deposit in Bengaluru, versus the 2-month cap the Model Tenancy Act 2021 recommends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502152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1">
                <a:solidFill>
                  <a:srgbClr val="8D8AAB"/>
                </a:solidFill>
                <a:latin typeface="Segoe UI"/>
              </a:rPr>
              <a:t>PRS India; Mittiyo, Werentt (Karnataka deposit guides)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783080"/>
            <a:ext cx="2743200" cy="868680"/>
          </a:xfrm>
          <a:prstGeom prst="rect">
            <a:avLst/>
          </a:prstGeom>
          <a:noFill/>
        </p:spPr>
        <p:txBody>
          <a:bodyPr wrap="square" lIns="45720" rIns="45720" tIns="18288" bIns="18288" anchor="b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F5A623"/>
                </a:solidFill>
                <a:latin typeface="Segoe UI"/>
              </a:rPr>
              <a:t>&gt;40%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679191"/>
            <a:ext cx="274320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A9A6C2"/>
                </a:solidFill>
                <a:latin typeface="Segoe UI"/>
              </a:rPr>
              <a:t>of landlord–tenant disputes in India are about the security deposit (industry estimate)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502152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1">
                <a:solidFill>
                  <a:srgbClr val="8D8AAB"/>
                </a:solidFill>
                <a:latin typeface="Segoe UI"/>
              </a:rPr>
              <a:t>99acres; RentConnect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783080"/>
            <a:ext cx="2834640" cy="868680"/>
          </a:xfrm>
          <a:prstGeom prst="rect">
            <a:avLst/>
          </a:prstGeom>
          <a:noFill/>
        </p:spPr>
        <p:txBody>
          <a:bodyPr wrap="square" lIns="45720" rIns="45720" tIns="18288" bIns="18288" anchor="b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5A623"/>
                </a:solidFill>
                <a:latin typeface="Segoe UI"/>
              </a:rPr>
              <a:t>₹1,649–5,999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679191"/>
            <a:ext cx="283464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A9A6C2"/>
                </a:solidFill>
                <a:latin typeface="Segoe UI"/>
              </a:rPr>
              <a:t>for a human NoBroker inspection, booked days ahead. Most tenants never get one.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502152"/>
            <a:ext cx="2834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1">
                <a:solidFill>
                  <a:srgbClr val="8D8AAB"/>
                </a:solidFill>
                <a:latin typeface="Segoe UI"/>
              </a:rPr>
              <a:t>NoBroker property-inspection pricing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60" y="1783080"/>
            <a:ext cx="2423160" cy="2377440"/>
          </a:xfrm>
          <a:prstGeom prst="roundRect">
            <a:avLst>
              <a:gd name="adj" fmla="val 5384"/>
            </a:avLst>
          </a:prstGeom>
          <a:solidFill>
            <a:srgbClr val="1E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81160" y="1892807"/>
            <a:ext cx="54864" cy="2157984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55480" y="1911095"/>
            <a:ext cx="201167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Priya, Anna Nagar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2368296"/>
            <a:ext cx="2011680" cy="17922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A9A6C2"/>
                </a:solidFill>
                <a:latin typeface="Segoe UI"/>
              </a:rPr>
              <a:t>Moved in with 12 WhatsApp photos. Moves out to hear 'that crack is new'. ₹90,000 deposit, no neutral referee, no timestamp.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526280"/>
            <a:ext cx="11183112" cy="1417320"/>
          </a:xfrm>
          <a:prstGeom prst="roundRect">
            <a:avLst>
              <a:gd name="adj" fmla="val 9032"/>
            </a:avLst>
          </a:prstGeom>
          <a:solidFill>
            <a:srgbClr val="1E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4636008"/>
            <a:ext cx="64008" cy="1197864"/>
          </a:xfrm>
          <a:prstGeom prst="roundRect">
            <a:avLst>
              <a:gd name="adj" fmla="val 42857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617720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5A623"/>
                </a:solidFill>
                <a:latin typeface="Segoe UI"/>
              </a:rPr>
              <a:t>ROOT CAUSE, EVERY SOURCE AGREES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937760"/>
            <a:ext cx="107899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No timestamped move-in documentation. </a:t>
            </a:r>
            <a:r>
              <a:rPr sz="1600" b="0" i="0">
                <a:solidFill>
                  <a:srgbClr val="F1EEFA"/>
                </a:solidFill>
                <a:latin typeface="Segoe UI"/>
              </a:rPr>
              <a:t>Photos are subjective, undated and easy to dispute. A surveyor is slow and expensive. And in the empty flat where the inspection happens, there is often no Wi-Fi at all.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778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5A623"/>
                </a:solidFill>
                <a:latin typeface="Segoe UI"/>
              </a:rPr>
              <a:t>WHY ON-DEVICE, 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7782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The report has to be made where the internet isn't: an empty flat, a stranger's home, in sixty seconds.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54312" y="41148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3224A"/>
          </a:solidFill>
          <a:ln w="12700">
            <a:solidFill>
              <a:srgbClr val="3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4312" y="411480"/>
            <a:ext cx="233172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A9A6C2"/>
                </a:solidFill>
                <a:latin typeface="Segoe UI"/>
              </a:rPr>
              <a:t>SCORES  </a:t>
            </a:r>
            <a:r>
              <a:rPr sz="950" b="1" i="0">
                <a:solidFill>
                  <a:srgbClr val="F5A623"/>
                </a:solidFill>
                <a:latin typeface="Segoe UI"/>
              </a:rPr>
              <a:t>NOVELTY &amp; IMPACT</a:t>
            </a:r>
            <a:r>
              <a:rPr sz="950" b="1" i="0">
                <a:solidFill>
                  <a:srgbClr val="FFFFFF"/>
                </a:solidFill>
                <a:latin typeface="Segoe UI"/>
              </a:rPr>
              <a:t>  20%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9525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SmartLease Edge · iQOO Hackathon 2026 · Chennai City Battle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55664"/>
            <a:ext cx="107899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03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3611880" cy="2331720"/>
          </a:xfrm>
          <a:prstGeom prst="roundRect">
            <a:avLst>
              <a:gd name="adj" fmla="val 5490"/>
            </a:avLst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off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837944"/>
            <a:ext cx="347472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1288" y="1819656"/>
            <a:ext cx="2816352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Offline is the use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276856"/>
            <a:ext cx="3273552" cy="174650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A9A6C2"/>
                </a:solidFill>
                <a:latin typeface="Segoe UI"/>
              </a:rPr>
              <a:t>Move-outs happen in vacated flats with the Wi-Fi cancelled. Tier-2/3 connectivity is patchy. A cloud app fails exactly when it is needed.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1691640"/>
            <a:ext cx="3611880" cy="2331720"/>
          </a:xfrm>
          <a:prstGeom prst="roundRect">
            <a:avLst>
              <a:gd name="adj" fmla="val 5490"/>
            </a:avLst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59" y="1837944"/>
            <a:ext cx="347472" cy="3474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937759" y="1819656"/>
            <a:ext cx="2816352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Private by physics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2276856"/>
            <a:ext cx="3273552" cy="174650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A9A6C2"/>
                </a:solidFill>
                <a:latin typeface="Segoe UI"/>
              </a:rPr>
              <a:t>Interior photos, tenant IDs and deposit amounts never leave the handset. No account, no upload, no analytics.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5864" y="1691640"/>
            <a:ext cx="3611880" cy="2331720"/>
          </a:xfrm>
          <a:prstGeom prst="roundRect">
            <a:avLst>
              <a:gd name="adj" fmla="val 5490"/>
            </a:avLst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032" y="1837944"/>
            <a:ext cx="347472" cy="3474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714232" y="1819656"/>
            <a:ext cx="2816351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Real-time or useless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2" y="2276856"/>
            <a:ext cx="3273552" cy="174650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A9A6C2"/>
                </a:solidFill>
                <a:latin typeface="Segoe UI"/>
              </a:rPr>
              <a:t>AR alignment and defect overlays update per frame. A 400 ms cloud round-trip makes the overlay swim; the NPU answers in under 30 ms.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297680"/>
            <a:ext cx="11183112" cy="1783080"/>
          </a:xfrm>
          <a:prstGeom prst="roundRect">
            <a:avLst>
              <a:gd name="adj" fmla="val 7179"/>
            </a:avLst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407408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5A623"/>
                </a:solidFill>
                <a:latin typeface="Segoe UI"/>
              </a:rPr>
              <a:t>WHY NOW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70916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Three years ago this pipeline needed a laptop and a cloud key. On the iQOO 15 it fits in a pocket.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166360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F5A623"/>
                </a:solidFill>
                <a:latin typeface="Segoe UI"/>
              </a:rPr>
              <a:t>37% faster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577840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Hexagon NPU in Snapdragon 8 Elite Gen 5 vs prior gen (Qualcomm)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5166360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F5A623"/>
                </a:solidFill>
                <a:latin typeface="Segoe UI"/>
              </a:rPr>
              <a:t>Loads + narrates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577840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Gemma 4 E4B (.litertlm) via Google's LiteRT-LM runtime, GPU delegate, on this exact phone (device-tested)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5166360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F5A623"/>
                </a:solidFill>
                <a:latin typeface="Segoe UI"/>
              </a:rPr>
              <a:t>Real, not planned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5577840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YOLOv8n-Seg INT8 segmenter runs via ExecuTorch today, with an honest heuristic fallback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778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5A623"/>
                </a:solidFill>
                <a:latin typeface="Segoe U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7782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Segoe UI"/>
              </a:rPr>
              <a:t>Three sensors. One signed report. Zero internet.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54312" y="41148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3224A"/>
          </a:solidFill>
          <a:ln w="12700">
            <a:solidFill>
              <a:srgbClr val="3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4312" y="411480"/>
            <a:ext cx="233172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A9A6C2"/>
                </a:solidFill>
                <a:latin typeface="Segoe UI"/>
              </a:rPr>
              <a:t>SCORES  </a:t>
            </a:r>
            <a:r>
              <a:rPr sz="950" b="1" i="0">
                <a:solidFill>
                  <a:srgbClr val="F5A623"/>
                </a:solidFill>
                <a:latin typeface="Segoe UI"/>
              </a:rPr>
              <a:t>END PRODUCT QUALITY</a:t>
            </a:r>
            <a:r>
              <a:rPr sz="950" b="1" i="0">
                <a:solidFill>
                  <a:srgbClr val="FFFFFF"/>
                </a:solidFill>
                <a:latin typeface="Segoe UI"/>
              </a:rPr>
              <a:t>  30%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9525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SmartLease Edge · iQOO Hackathon 2026 · Chennai City Battle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55664"/>
            <a:ext cx="107899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04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1600200" cy="3296412"/>
          </a:xfrm>
          <a:prstGeom prst="roundRect">
            <a:avLst>
              <a:gd name="adj" fmla="val 25714"/>
            </a:avLst>
          </a:prstGeom>
          <a:solidFill>
            <a:srgbClr val="0B0B1A"/>
          </a:solidFill>
          <a:ln w="15875">
            <a:solidFill>
              <a:srgbClr val="4A4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_v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673352"/>
            <a:ext cx="1453896" cy="3150108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1440180" y="1728216"/>
            <a:ext cx="91440" cy="91440"/>
          </a:xfrm>
          <a:prstGeom prst="ellipse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1691640"/>
            <a:ext cx="365760" cy="365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26080" y="1664208"/>
            <a:ext cx="1463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5A623"/>
                </a:solidFill>
                <a:latin typeface="Segoe UI"/>
              </a:rPr>
              <a:t>VISION SCAN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148840"/>
            <a:ext cx="1920240" cy="2377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F1EEFA"/>
                </a:solidFill>
                <a:latin typeface="Segoe UI"/>
              </a:rPr>
              <a:t>YOLOv8n-Seg finds cracks, stains, peeling paint and reports area in sq ft with a severity band.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206240" y="3566160"/>
            <a:ext cx="274320" cy="274320"/>
          </a:xfrm>
          <a:prstGeom prst="rightArrow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26280" y="1600200"/>
            <a:ext cx="1600200" cy="3296412"/>
          </a:xfrm>
          <a:prstGeom prst="roundRect">
            <a:avLst>
              <a:gd name="adj" fmla="val 25714"/>
            </a:avLst>
          </a:prstGeom>
          <a:solidFill>
            <a:srgbClr val="0B0B1A"/>
          </a:solidFill>
          <a:ln w="15875">
            <a:solidFill>
              <a:srgbClr val="4A4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creen_t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1673352"/>
            <a:ext cx="1453896" cy="3150108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5280660" y="1728216"/>
            <a:ext cx="91440" cy="91440"/>
          </a:xfrm>
          <a:prstGeom prst="ellipse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691640"/>
            <a:ext cx="365760" cy="3657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766560" y="1664208"/>
            <a:ext cx="1463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5A623"/>
                </a:solidFill>
                <a:latin typeface="Segoe UI"/>
              </a:rPr>
              <a:t>TAP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148840"/>
            <a:ext cx="1920240" cy="2377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F1EEFA"/>
                </a:solidFill>
                <a:latin typeface="Segoe UI"/>
              </a:rPr>
              <a:t>Knuckle-tap a tile. A 250 ms transient is classified hollow or solid by a small on-device logistic-regression model.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046720" y="3566160"/>
            <a:ext cx="274320" cy="274320"/>
          </a:xfrm>
          <a:prstGeom prst="rightArrow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66760" y="1600200"/>
            <a:ext cx="1600200" cy="3296412"/>
          </a:xfrm>
          <a:prstGeom prst="roundRect">
            <a:avLst>
              <a:gd name="adj" fmla="val 25714"/>
            </a:avLst>
          </a:prstGeom>
          <a:solidFill>
            <a:srgbClr val="0B0B1A"/>
          </a:solidFill>
          <a:ln w="15875">
            <a:solidFill>
              <a:srgbClr val="4A4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creen_repo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9912" y="1673352"/>
            <a:ext cx="1453896" cy="3150108"/>
          </a:xfrm>
          <a:prstGeom prst="rect">
            <a:avLst/>
          </a:prstGeom>
        </p:spPr>
      </p:pic>
      <p:sp>
        <p:nvSpPr>
          <p:cNvPr id="25" name="Oval 24"/>
          <p:cNvSpPr/>
          <p:nvPr/>
        </p:nvSpPr>
        <p:spPr>
          <a:xfrm>
            <a:off x="9121140" y="1728216"/>
            <a:ext cx="91440" cy="91440"/>
          </a:xfrm>
          <a:prstGeom prst="ellipse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do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9840" y="1691640"/>
            <a:ext cx="365760" cy="3657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607040" y="1664208"/>
            <a:ext cx="1463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5A623"/>
                </a:solidFill>
                <a:latin typeface="Segoe UI"/>
              </a:rPr>
              <a:t>SIGNED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2148840"/>
            <a:ext cx="1920240" cy="2377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F1EEFA"/>
                </a:solidFill>
                <a:latin typeface="Segoe UI"/>
              </a:rPr>
              <a:t>Gemma 4 writes the findings into a plain-language PDF, each fault captioned under its own move-in/move-out photo pair, with cost bands, timestamp and SHA-256.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349240"/>
            <a:ext cx="11183112" cy="731520"/>
          </a:xfrm>
          <a:prstGeom prst="roundRect">
            <a:avLst>
              <a:gd name="adj" fmla="val 15000"/>
            </a:avLst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5504688"/>
            <a:ext cx="411480" cy="4114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34440" y="5394960"/>
            <a:ext cx="103327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Plus a functional check the camera cannot do: </a:t>
            </a:r>
            <a:r>
              <a:rPr sz="1350" b="0" i="0">
                <a:solidFill>
                  <a:srgbClr val="F1EEFA"/>
                </a:solidFill>
                <a:latin typeface="Segoe UI"/>
              </a:rPr>
              <a:t>the IR blaster fires the captured remote code at the AC, the mic confirms the compressor starts, and the report records 'works', not just 'looks fine'.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144768"/>
            <a:ext cx="54864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8D8AAB"/>
                </a:solidFill>
                <a:latin typeface="Segoe UI"/>
              </a:rPr>
              <a:t>Phone renders are illustrative mockups. Live demo runs the real app, live, across three rooms.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778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5A623"/>
                </a:solidFill>
                <a:latin typeface="Segoe UI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7782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The real pipeline, walked across three rooms, in Airplane Mode, mirrored through Office Kit.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54312" y="41148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3224A"/>
          </a:solidFill>
          <a:ln w="12700">
            <a:solidFill>
              <a:srgbClr val="3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4312" y="411480"/>
            <a:ext cx="233172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A9A6C2"/>
                </a:solidFill>
                <a:latin typeface="Segoe UI"/>
              </a:rPr>
              <a:t>SCORES  </a:t>
            </a:r>
            <a:r>
              <a:rPr sz="950" b="1" i="0">
                <a:solidFill>
                  <a:srgbClr val="F5A623"/>
                </a:solidFill>
                <a:latin typeface="Segoe UI"/>
              </a:rPr>
              <a:t>DEMO &amp; PRESENTATION</a:t>
            </a:r>
            <a:r>
              <a:rPr sz="950" b="1" i="0">
                <a:solidFill>
                  <a:srgbClr val="FFFFFF"/>
                </a:solidFill>
                <a:latin typeface="Segoe UI"/>
              </a:rPr>
              <a:t>  10%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9525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SmartLease Edge · iQOO Hackathon 2026 · Chennai City Battle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55664"/>
            <a:ext cx="107899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05 / 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2331720"/>
            <a:ext cx="10561320" cy="0"/>
          </a:xfrm>
          <a:prstGeom prst="line">
            <a:avLst/>
          </a:prstGeom>
          <a:ln w="25400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371600" y="2103120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10312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4142B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4592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5A623"/>
                </a:solidFill>
                <a:latin typeface="Segoe UI"/>
              </a:rPr>
              <a:t>0:00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788920"/>
            <a:ext cx="2103120" cy="2971800"/>
          </a:xfrm>
          <a:prstGeom prst="roundRect">
            <a:avLst>
              <a:gd name="adj" fmla="val 6086"/>
            </a:avLst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am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926080"/>
            <a:ext cx="365760" cy="3657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97280" y="2907792"/>
            <a:ext cx="14630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Evidence stage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3429000"/>
            <a:ext cx="182880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1EEFA"/>
                </a:solidFill>
                <a:latin typeface="Segoe UI"/>
              </a:rPr>
              <a:t>Three rooms -- Living Room, Kitchen, Bedroom. Each move-out photo is its move-in pair with one small defect composited 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516636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A9A6C2"/>
                </a:solidFill>
                <a:latin typeface="Consolas"/>
              </a:rPr>
              <a:t>Bundled evidence · on-device</a:t>
            </a:r>
          </a:p>
        </p:txBody>
      </p:sp>
      <p:sp>
        <p:nvSpPr>
          <p:cNvPr id="18" name="Oval 17"/>
          <p:cNvSpPr/>
          <p:nvPr/>
        </p:nvSpPr>
        <p:spPr>
          <a:xfrm>
            <a:off x="3630168" y="2103120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30168" y="210312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4142B"/>
                </a:solidFill>
                <a:latin typeface="Sego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61488" y="164592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5A623"/>
                </a:solidFill>
                <a:latin typeface="Segoe UI"/>
              </a:rPr>
              <a:t>0:10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61488" y="2788920"/>
            <a:ext cx="2103120" cy="2971800"/>
          </a:xfrm>
          <a:prstGeom prst="roundRect">
            <a:avLst>
              <a:gd name="adj" fmla="val 6086"/>
            </a:avLst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2926080"/>
            <a:ext cx="365760" cy="3657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355848" y="2907792"/>
            <a:ext cx="14630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Run the 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429000"/>
            <a:ext cx="182880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1EEFA"/>
                </a:solidFill>
                <a:latin typeface="Segoe UI"/>
              </a:rPr>
              <a:t>One tap runs vision, deduction, narration and PDF rendering fresh, on this device, off the main thread with live progress text.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516636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A9A6C2"/>
                </a:solidFill>
                <a:latin typeface="Consolas"/>
              </a:rPr>
              <a:t>Dispatchers.Default</a:t>
            </a:r>
          </a:p>
        </p:txBody>
      </p:sp>
      <p:sp>
        <p:nvSpPr>
          <p:cNvPr id="26" name="Oval 25"/>
          <p:cNvSpPr/>
          <p:nvPr/>
        </p:nvSpPr>
        <p:spPr>
          <a:xfrm>
            <a:off x="5888736" y="2103120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88736" y="210312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4142B"/>
                </a:solidFill>
                <a:latin typeface="Segoe U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0056" y="164592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5A623"/>
                </a:solidFill>
                <a:latin typeface="Segoe UI"/>
              </a:rPr>
              <a:t>0:30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0056" y="2788920"/>
            <a:ext cx="2103120" cy="2971800"/>
          </a:xfrm>
          <a:prstGeom prst="roundRect">
            <a:avLst>
              <a:gd name="adj" fmla="val 6086"/>
            </a:avLst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648" y="2926080"/>
            <a:ext cx="365760" cy="3657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614416" y="2907792"/>
            <a:ext cx="14630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Vision + pricing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84648" y="3429000"/>
            <a:ext cx="182880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1EEFA"/>
                </a:solidFill>
                <a:latin typeface="Segoe UI"/>
              </a:rPr>
              <a:t>The real per-room segmenter findings, priced by the same rate-card deduction engine a live move-out uses.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84648" y="516636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A9A6C2"/>
                </a:solidFill>
                <a:latin typeface="Consolas"/>
              </a:rPr>
              <a:t>YOLOv8n-Seg · DeductionEngine</a:t>
            </a:r>
          </a:p>
        </p:txBody>
      </p:sp>
      <p:sp>
        <p:nvSpPr>
          <p:cNvPr id="34" name="Oval 33"/>
          <p:cNvSpPr/>
          <p:nvPr/>
        </p:nvSpPr>
        <p:spPr>
          <a:xfrm>
            <a:off x="8147304" y="2103120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7304" y="210312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4142B"/>
                </a:solidFill>
                <a:latin typeface="Segoe U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78624" y="164592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5A623"/>
                </a:solidFill>
                <a:latin typeface="Segoe UI"/>
              </a:rPr>
              <a:t>0:50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78624" y="2788920"/>
            <a:ext cx="2103120" cy="2971800"/>
          </a:xfrm>
          <a:prstGeom prst="roundRect">
            <a:avLst>
              <a:gd name="adj" fmla="val 6086"/>
            </a:avLst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do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3216" y="2926080"/>
            <a:ext cx="365760" cy="36576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872983" y="2907792"/>
            <a:ext cx="14630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Narration + report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43216" y="3429000"/>
            <a:ext cx="182880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1EEFA"/>
                </a:solidFill>
                <a:latin typeface="Segoe UI"/>
              </a:rPr>
              <a:t>Gemma 4 (or the template, named honestly if it fell back) writes the summary. PDF lands with its own fresh SHA-256, opened on the spot.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43216" y="516636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A9A6C2"/>
                </a:solidFill>
                <a:latin typeface="Consolas"/>
              </a:rPr>
              <a:t>LiteRT-LM · PdfDocument</a:t>
            </a:r>
          </a:p>
        </p:txBody>
      </p:sp>
      <p:sp>
        <p:nvSpPr>
          <p:cNvPr id="42" name="Oval 41"/>
          <p:cNvSpPr/>
          <p:nvPr/>
        </p:nvSpPr>
        <p:spPr>
          <a:xfrm>
            <a:off x="10405872" y="2103120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05872" y="210312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4142B"/>
                </a:solidFill>
                <a:latin typeface="Segoe UI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37192" y="164592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5A623"/>
                </a:solidFill>
                <a:latin typeface="Segoe UI"/>
              </a:rPr>
              <a:t>1:10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537192" y="2788920"/>
            <a:ext cx="2103120" cy="2971800"/>
          </a:xfrm>
          <a:prstGeom prst="roundRect">
            <a:avLst>
              <a:gd name="adj" fmla="val 6086"/>
            </a:avLst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1784" y="2926080"/>
            <a:ext cx="365760" cy="36576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0131552" y="2907792"/>
            <a:ext cx="14630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Live proof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01784" y="3429000"/>
            <a:ext cx="182880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1EEFA"/>
                </a:solidFill>
                <a:latin typeface="Segoe UI"/>
              </a:rPr>
              <a:t>Switch to the real inspection flow: camera capture, knuckle-tap test, IR fire at the venue AC, QR-fingerprint share.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01784" y="516636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A9A6C2"/>
                </a:solidFill>
                <a:latin typeface="Consolas"/>
              </a:rPr>
              <a:t>CameraX · ConsumerIrManager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5943600"/>
            <a:ext cx="11155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1">
                <a:solidFill>
                  <a:srgbClr val="A9A6C2"/>
                </a:solidFill>
                <a:latin typeface="Segoe UI"/>
              </a:rPr>
              <a:t>If the run seems to stall, it's device thermal throttling after heavy builds/installs, not a bug -- let it rest a minute and retry. A screen recording is the fallback.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778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5A623"/>
                </a:solidFill>
                <a:latin typeface="Segoe UI"/>
              </a:rPr>
              <a:t>ON-DEVICE MODEL 1: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7782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Segoe UI"/>
              </a:rPr>
              <a:t>Cracks become square feet, not opinions.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54312" y="41148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3224A"/>
          </a:solidFill>
          <a:ln w="12700">
            <a:solidFill>
              <a:srgbClr val="3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4312" y="411480"/>
            <a:ext cx="233172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A9A6C2"/>
                </a:solidFill>
                <a:latin typeface="Segoe UI"/>
              </a:rPr>
              <a:t>SCORES  </a:t>
            </a:r>
            <a:r>
              <a:rPr sz="950" b="1" i="0">
                <a:solidFill>
                  <a:srgbClr val="F5A623"/>
                </a:solidFill>
                <a:latin typeface="Segoe UI"/>
              </a:rPr>
              <a:t>TECHNICAL DEPTH</a:t>
            </a:r>
            <a:r>
              <a:rPr sz="950" b="1" i="0">
                <a:solidFill>
                  <a:srgbClr val="FFFFFF"/>
                </a:solidFill>
                <a:latin typeface="Segoe UI"/>
              </a:rPr>
              <a:t>  15%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9525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SmartLease Edge · iQOO Hackathon 2026 · Chennai City Battle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55664"/>
            <a:ext cx="107899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06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00200"/>
            <a:ext cx="2011680" cy="4187952"/>
          </a:xfrm>
          <a:prstGeom prst="roundRect">
            <a:avLst>
              <a:gd name="adj" fmla="val 20454"/>
            </a:avLst>
          </a:prstGeom>
          <a:solidFill>
            <a:srgbClr val="0B0B1A"/>
          </a:solidFill>
          <a:ln w="15875">
            <a:solidFill>
              <a:srgbClr val="4A4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_v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673352"/>
            <a:ext cx="1865376" cy="4041648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1554480" y="1728216"/>
            <a:ext cx="91440" cy="91440"/>
          </a:xfrm>
          <a:prstGeom prst="ellipse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164592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5A623"/>
                </a:solidFill>
                <a:latin typeface="Segoe UI"/>
              </a:rP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1618488"/>
            <a:ext cx="41605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F1EEFA"/>
                </a:solidFill>
                <a:latin typeface="Segoe UI"/>
              </a:rPr>
              <a:t>YOLOv8n-Seg fine-tuned on 580+ labelled wall-defect images (Roboflow COCO-Seg auto-converted to YOLO-Seg). Classes: crack, stain, mould, peeling, hole.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578608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5A623"/>
                </a:solidFill>
                <a:latin typeface="Segoe UI"/>
              </a:rPr>
              <a:t>DEPLOY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551176"/>
            <a:ext cx="41605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F1EEFA"/>
                </a:solidFill>
                <a:latin typeface="Segoe UI"/>
              </a:rPr>
              <a:t>torch.export  → PT2E quantise (QnnQuantizer 8a8w)  → ExecuTorch lower  → .pte on the Hexagon HTP. ~6 MB INT8. XNNPACK CPU fallback ships in the same APK.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511296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5A623"/>
                </a:solidFill>
                <a:latin typeface="Segoe UI"/>
              </a:rPr>
              <a:t>MEASURE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483864"/>
            <a:ext cx="41605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F1EEFA"/>
                </a:solidFill>
                <a:latin typeface="Segoe UI"/>
              </a:rPr>
              <a:t>Area = mask pixels × Z² / (fₓ·fᵧ) using the pinhole model; Z from ARCore depth (±10%) or a typed wall distance (±20%).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4443984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5A623"/>
                </a:solidFill>
                <a:latin typeface="Segoe UI"/>
              </a:rPr>
              <a:t>DECIDE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4416552"/>
            <a:ext cx="41605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F1EEFA"/>
                </a:solidFill>
                <a:latin typeface="Segoe UI"/>
              </a:rPr>
              <a:t>Severity bands by area and class. Confidence &lt; 0.30 hidden; 0.30–0.50 shown as 'review'. Users can dismiss a detection.</a:t>
            </a:r>
          </a:p>
        </p:txBody>
      </p:sp>
      <p:pic>
        <p:nvPicPr>
          <p:cNvPr id="20" name="Picture 19" descr="lat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645920"/>
            <a:ext cx="3319272" cy="157026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366760" y="3520440"/>
            <a:ext cx="3319272" cy="2514600"/>
          </a:xfrm>
          <a:prstGeom prst="roundRect">
            <a:avLst>
              <a:gd name="adj" fmla="val 5090"/>
            </a:avLst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66760" y="3630168"/>
            <a:ext cx="54864" cy="2295144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41080" y="3648456"/>
            <a:ext cx="2907791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Honest 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4105656"/>
            <a:ext cx="2907792" cy="19293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A9A6C2"/>
                </a:solidFill>
                <a:latin typeface="Segoe UI"/>
              </a:rPr>
              <a:t>Real, running today: YOLOv8n-Seg (ExecuTorch .pte) segments every room in the live demo, via DefectSegmenterFactory. It falls back to the labelled heuristic segmenter only if the exported model is missing on a given build -- the UI names which one ran, never silently. Per-frame latency and mAP on the chart are still targets, not yet measured on this build.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778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5A623"/>
                </a:solidFill>
                <a:latin typeface="Segoe UI"/>
              </a:rPr>
              <a:t>ON-DEVICE MODEL 2: ACOUSTICS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7782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Segoe UI"/>
              </a:rPr>
              <a:t>Tap a tile. The phone hears what a surveyor's hammer would.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54312" y="41148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3224A"/>
          </a:solidFill>
          <a:ln w="12700">
            <a:solidFill>
              <a:srgbClr val="3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4312" y="411480"/>
            <a:ext cx="233172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A9A6C2"/>
                </a:solidFill>
                <a:latin typeface="Segoe UI"/>
              </a:rPr>
              <a:t>SCORES  </a:t>
            </a:r>
            <a:r>
              <a:rPr sz="950" b="1" i="0">
                <a:solidFill>
                  <a:srgbClr val="F5A623"/>
                </a:solidFill>
                <a:latin typeface="Segoe UI"/>
              </a:rPr>
              <a:t>CREATIVE PHONE USE</a:t>
            </a:r>
            <a:r>
              <a:rPr sz="950" b="1" i="0">
                <a:solidFill>
                  <a:srgbClr val="FFFFFF"/>
                </a:solidFill>
                <a:latin typeface="Segoe UI"/>
              </a:rPr>
              <a:t>  15%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9525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SmartLease Edge · iQOO Hackathon 2026 · Chennai City Battle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55664"/>
            <a:ext cx="107899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07 / 17</a:t>
            </a:r>
          </a:p>
        </p:txBody>
      </p:sp>
      <p:pic>
        <p:nvPicPr>
          <p:cNvPr id="9" name="Picture 8" descr="tap_spect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0200"/>
            <a:ext cx="6766560" cy="37848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89520" y="164592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5A623"/>
                </a:solidFill>
                <a:latin typeface="Segoe UI"/>
              </a:rPr>
              <a:t>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1618488"/>
            <a:ext cx="32461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1EEFA"/>
                </a:solidFill>
                <a:latin typeface="Segoe UI"/>
              </a:rPr>
              <a:t>AudioRecord keeps a listener up at 44.1 kHz. A peak-amplitude gate crops a 250 ms window around the tap transient.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670048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5A623"/>
                </a:solidFill>
                <a:latin typeface="Segoe UI"/>
              </a:rPr>
              <a:t>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642616"/>
            <a:ext cx="32461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1EEFA"/>
                </a:solidFill>
                <a:latin typeface="Segoe UI"/>
              </a:rPr>
              <a:t>40-band mel filterbank → 13-coefficient MFCC, 36 features total. Hollow taps ring above 1.5 kHz and die fast; solid taps sit lower and ring longer.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3694176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5A623"/>
                </a:solidFill>
                <a:latin typeface="Segoe UI"/>
              </a:rPr>
              <a:t>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666744"/>
            <a:ext cx="32461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1EEFA"/>
                </a:solidFill>
                <a:latin typeface="Segoe UI"/>
              </a:rPr>
              <a:t>Logistic regression over those 36 features -- a 73 KB JSON (filterbank + scaler + weights), fit in ml/acoustic. Real, but modest: 36 multiply-adds on the CPU, not an NPU model.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4718304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5A623"/>
                </a:solidFill>
                <a:latin typeface="Segoe UI"/>
              </a:rPr>
              <a:t>FALLBACK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4690872"/>
            <a:ext cx="32461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1EEFA"/>
                </a:solidFill>
                <a:latin typeface="Segoe UI"/>
              </a:rPr>
              <a:t>The deterministic decay-time heuristic already shipping in the app classifies every tap even if the trained bundle fails to load, and its raw measurements are always reported alongside.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532120"/>
            <a:ext cx="6766560" cy="566928"/>
          </a:xfrm>
          <a:prstGeom prst="roundRect">
            <a:avLst>
              <a:gd name="adj" fmla="val 16129"/>
            </a:avLst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532120"/>
            <a:ext cx="658368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A9A6C2"/>
                </a:solidFill>
                <a:latin typeface="Segoe UI"/>
              </a:rPr>
              <a:t>Honest training set: 15 own taps on the demo phone, grouped cross-validated accuracy 80% (95% CI 55–93%) -- small and said so out loud. Figure is an illustrative signal model.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576072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1">
                <a:solidFill>
                  <a:srgbClr val="A9A6C2"/>
                </a:solidFill>
                <a:latin typeface="Segoe UI"/>
              </a:rPr>
              <a:t>Dual stereo speakers play a confirmation tone so a room of judges hears the verdict.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778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5A623"/>
                </a:solidFill>
                <a:latin typeface="Segoe UI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7782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Every byte stays on the phone: sensors, NPU, on-device LLM, signed PDF.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54312" y="41148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3224A"/>
          </a:solidFill>
          <a:ln w="12700">
            <a:solidFill>
              <a:srgbClr val="3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4312" y="411480"/>
            <a:ext cx="233172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A9A6C2"/>
                </a:solidFill>
                <a:latin typeface="Segoe UI"/>
              </a:rPr>
              <a:t>SCORES  </a:t>
            </a:r>
            <a:r>
              <a:rPr sz="950" b="1" i="0">
                <a:solidFill>
                  <a:srgbClr val="F5A623"/>
                </a:solidFill>
                <a:latin typeface="Segoe UI"/>
              </a:rPr>
              <a:t>TECHNICAL DEPTH</a:t>
            </a:r>
            <a:r>
              <a:rPr sz="950" b="1" i="0">
                <a:solidFill>
                  <a:srgbClr val="FFFFFF"/>
                </a:solidFill>
                <a:latin typeface="Segoe UI"/>
              </a:rPr>
              <a:t>  15%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9525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SmartLease Edge · iQOO Hackathon 2026 · Chennai City Battle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55664"/>
            <a:ext cx="107899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08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11183112" cy="566928"/>
          </a:xfrm>
          <a:prstGeom prst="roundRect">
            <a:avLst>
              <a:gd name="adj" fmla="val 16129"/>
            </a:avLst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54480"/>
            <a:ext cx="274320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5A623"/>
                </a:solidFill>
                <a:latin typeface="Segoe UI"/>
              </a:rPr>
              <a:t>INPUT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554480"/>
            <a:ext cx="233172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Sony IMX921 50 MP + OIS · ultrawide · periscope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1554480"/>
            <a:ext cx="233172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Stereo mics · 16 kHz PCM · Sensing 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94576" y="1554480"/>
            <a:ext cx="233172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IR blaster 38 kHz · ConsumerIrManager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90304" y="1554480"/>
            <a:ext cx="233172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Rotation vector · ARCore depth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011680" y="2194560"/>
            <a:ext cx="329184" cy="274320"/>
          </a:xfrm>
          <a:prstGeom prst="downArrow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5760720" y="2194560"/>
            <a:ext cx="329184" cy="274320"/>
          </a:xfrm>
          <a:prstGeom prst="downArrow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9509759" y="2194560"/>
            <a:ext cx="329184" cy="274320"/>
          </a:xfrm>
          <a:prstGeom prst="downArrow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2560320"/>
            <a:ext cx="3611880" cy="1691640"/>
          </a:xfrm>
          <a:prstGeom prst="roundRect">
            <a:avLst>
              <a:gd name="adj" fmla="val 6486"/>
            </a:avLst>
          </a:prstGeom>
          <a:solidFill>
            <a:srgbClr val="23224A"/>
          </a:solidFill>
          <a:ln w="12700">
            <a:solidFill>
              <a:srgbClr val="3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670048"/>
            <a:ext cx="329184" cy="3291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69848" y="265176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5A623"/>
                </a:solidFill>
                <a:latin typeface="Segoe UI"/>
              </a:rPr>
              <a:t>NPU + GPU (ON-DEVICE AI)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3035808"/>
            <a:ext cx="333756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• YOLOv8n-Seg INT8 .pte via ExecuTorch, Hexagon HTP, target &lt;30 ms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• Gemma 4 (.litertlm) via LiteRT-LM on the Adreno GPU delegate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• Both fall back to CPU under memory/thermal pressure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79392" y="2560320"/>
            <a:ext cx="3611880" cy="1691640"/>
          </a:xfrm>
          <a:prstGeom prst="roundRect">
            <a:avLst>
              <a:gd name="adj" fmla="val 6486"/>
            </a:avLst>
          </a:prstGeom>
          <a:solidFill>
            <a:srgbClr val="23224A"/>
          </a:solidFill>
          <a:ln w="12700">
            <a:solidFill>
              <a:srgbClr val="3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3" y="2670048"/>
            <a:ext cx="329184" cy="32918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846320" y="265176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5A623"/>
                </a:solidFill>
                <a:latin typeface="Segoe UI"/>
              </a:rPr>
              <a:t>HOST CPU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3983" y="3035808"/>
            <a:ext cx="333756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• NMS · mask assembly · area from pinhole model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• Tap logistic regression, 36 MFCC features, 73 KB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• PDF render · SHA-256 · Room DB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55864" y="2560320"/>
            <a:ext cx="3611880" cy="1691640"/>
          </a:xfrm>
          <a:prstGeom prst="roundRect">
            <a:avLst>
              <a:gd name="adj" fmla="val 6486"/>
            </a:avLst>
          </a:prstGeom>
          <a:solidFill>
            <a:srgbClr val="23224A"/>
          </a:solidFill>
          <a:ln w="12700">
            <a:solidFill>
              <a:srgbClr val="3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2670048"/>
            <a:ext cx="329184" cy="32918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622792" y="265176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5A623"/>
                </a:solidFill>
                <a:latin typeface="Segoe UI"/>
              </a:rPr>
              <a:t>IR STATE MACHINE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0456" y="3035808"/>
            <a:ext cx="333756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• Capture (receiver or library)  → store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• Replay at 38 kHz  → verify via mic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• Voltas · Blue Star · LG · Daikin fallback codes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5943600" y="4315968"/>
            <a:ext cx="329184" cy="274320"/>
          </a:xfrm>
          <a:prstGeom prst="downArrow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377440" y="4645152"/>
            <a:ext cx="7406640" cy="502920"/>
          </a:xfrm>
          <a:prstGeom prst="roundRect">
            <a:avLst>
              <a:gd name="adj" fmla="val 18181"/>
            </a:avLst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77440" y="4645152"/>
            <a:ext cx="74066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DIAGNOSTIC SYNTHESIS  ·  defect areas + tap verdicts + appliance state + OCR of meter/nameplate  →  one structured JSON record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5943600" y="5193792"/>
            <a:ext cx="329184" cy="237744"/>
          </a:xfrm>
          <a:prstGeom prst="downArrow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377440" y="5468112"/>
            <a:ext cx="7406640" cy="658368"/>
          </a:xfrm>
          <a:prstGeom prst="roundRect">
            <a:avLst>
              <a:gd name="adj" fmla="val 13888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14600" y="5468112"/>
            <a:ext cx="7132320" cy="6583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4142B"/>
                </a:solidFill>
                <a:latin typeface="Segoe UI"/>
              </a:rPr>
              <a:t>OUTPUT  </a:t>
            </a:r>
            <a:r>
              <a:rPr sz="1050" b="0" i="0">
                <a:solidFill>
                  <a:srgbClr val="14142B"/>
                </a:solidFill>
                <a:latin typeface="Segoe UI"/>
              </a:rPr>
              <a:t>Signed PDF: timestamp + session ID + SHA-256 fingerprint, both parties sign on-screen, shared by Intent or Office Kit. No cloud call at any stage.</a:t>
            </a:r>
          </a:p>
        </p:txBody>
      </p:sp>
      <p:pic>
        <p:nvPicPr>
          <p:cNvPr id="36" name="Picture 35" descr="off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0" y="4892040"/>
            <a:ext cx="640080" cy="64008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921240" y="5577840"/>
            <a:ext cx="1737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D64545"/>
                </a:solidFill>
                <a:latin typeface="Segoe UI"/>
              </a:rPr>
              <a:t>NO NETWORK
PERMISSION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778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5A623"/>
                </a:solidFill>
                <a:latin typeface="Segoe UI"/>
              </a:rPr>
              <a:t>PHONE-FIRST THINKING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7782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Segoe UI"/>
              </a:rPr>
              <a:t>Built for the iQOO 15, not just running on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54312" y="41148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3224A"/>
          </a:solidFill>
          <a:ln w="12700">
            <a:solidFill>
              <a:srgbClr val="3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4312" y="411480"/>
            <a:ext cx="233172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A9A6C2"/>
                </a:solidFill>
                <a:latin typeface="Segoe UI"/>
              </a:rPr>
              <a:t>SCORES  </a:t>
            </a:r>
            <a:r>
              <a:rPr sz="950" b="1" i="0">
                <a:solidFill>
                  <a:srgbClr val="F5A623"/>
                </a:solidFill>
                <a:latin typeface="Segoe UI"/>
              </a:rPr>
              <a:t>CREATIVE PHONE USE</a:t>
            </a:r>
            <a:r>
              <a:rPr sz="950" b="1" i="0">
                <a:solidFill>
                  <a:srgbClr val="FFFFFF"/>
                </a:solidFill>
                <a:latin typeface="Segoe UI"/>
              </a:rPr>
              <a:t>  15%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9525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SmartLease Edge · iQOO Hackathon 2026 · Chennai City Battle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55664"/>
            <a:ext cx="107899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09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3108960" cy="384048"/>
          </a:xfrm>
          <a:prstGeom prst="rect">
            <a:avLst/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600200"/>
            <a:ext cx="2962656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iQOO 15 hardware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0" y="1600200"/>
            <a:ext cx="2834640" cy="384048"/>
          </a:xfrm>
          <a:prstGeom prst="rect">
            <a:avLst/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5032" y="1600200"/>
            <a:ext cx="2688336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Verified spec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0" y="1600200"/>
            <a:ext cx="5239512" cy="384048"/>
          </a:xfrm>
          <a:prstGeom prst="rect">
            <a:avLst/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600200"/>
            <a:ext cx="509320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Exact job in SmartLease Edge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984248"/>
            <a:ext cx="3108960" cy="603504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1984248"/>
            <a:ext cx="2962656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Snapdragon 8 Elite Gen 5 · Hexagon NPU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1880" y="1984248"/>
            <a:ext cx="2834640" cy="603504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85032" y="1984248"/>
            <a:ext cx="2688336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37% faster NPU, INT4/INT8/FP16, Sensing Hub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1984248"/>
            <a:ext cx="5239512" cy="603504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1984248"/>
            <a:ext cx="5093208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Runs the segmenter on the NPU and Gemma 4 (LiteRT-LM) on the GPU; tap classifier is a small CPU model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587752"/>
            <a:ext cx="3108960" cy="713232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2587752"/>
            <a:ext cx="2962656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Triple 50 MP: IMX921 OIS + ultrawide + periscope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11880" y="2587752"/>
            <a:ext cx="2834640" cy="713232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85032" y="2587752"/>
            <a:ext cx="2688336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CIPA 4.5 OIS, 100× digital zoom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2587752"/>
            <a:ext cx="5239512" cy="713232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2587752"/>
            <a:ext cx="5093208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OIS steadies the AR baseline overlay; ultrawide captures a full wall; telephoto inspects hairline cracks from 3 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300984"/>
            <a:ext cx="3108960" cy="603504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" y="3300984"/>
            <a:ext cx="2962656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IR blaster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11880" y="3300984"/>
            <a:ext cx="2834640" cy="603504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85032" y="3300984"/>
            <a:ext cx="2688336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38 kHz carrier via ConsumerIrManager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3300984"/>
            <a:ext cx="5239512" cy="603504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9672" y="3300984"/>
            <a:ext cx="5093208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Fires the AC, geyser or TV remote code to prove the appliance works, not just looks fine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904488"/>
            <a:ext cx="3108960" cy="603504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" y="3904488"/>
            <a:ext cx="2962656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Stereo mics + Sensing Hub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11880" y="3904488"/>
            <a:ext cx="2834640" cy="603504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85032" y="3904488"/>
            <a:ext cx="2688336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Always-on, low-power audio path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46520" y="3904488"/>
            <a:ext cx="5239512" cy="603504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9672" y="3904488"/>
            <a:ext cx="5093208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Detects the tap transient without waking the main NPU; mic confirms the compressor starts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507992"/>
            <a:ext cx="3108960" cy="548640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6072" y="4507992"/>
            <a:ext cx="2962656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6000-nit 2K LTPO display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11880" y="4507992"/>
            <a:ext cx="2834640" cy="548640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85032" y="4507992"/>
            <a:ext cx="2688336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Peak brightness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46520" y="4507992"/>
            <a:ext cx="5239512" cy="548640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19672" y="4507992"/>
            <a:ext cx="5093208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AR overlay stays legible in a sunlit Chennai flat at 2 pm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5056632"/>
            <a:ext cx="3108960" cy="603504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6072" y="5056632"/>
            <a:ext cx="2962656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7000 mAh + 8K vapor chamber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11880" y="5056632"/>
            <a:ext cx="2834640" cy="603504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85032" y="5056632"/>
            <a:ext cx="2688336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Sustained NPU load without throttling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46520" y="5056632"/>
            <a:ext cx="5239512" cy="603504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19672" y="5056632"/>
            <a:ext cx="5093208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Twenty-room walkthrough on one charge; inference speed does not degrade mid-demo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5852160"/>
            <a:ext cx="111556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1">
                <a:solidFill>
                  <a:srgbClr val="A9A6C2"/>
                </a:solidFill>
                <a:latin typeface="Segoe UI"/>
              </a:rPr>
              <a:t>Not targeted: the vivo Q3 co-processor has no public SDK, so we say so if asked. Office Kit mirrors the phone to the projector during the pitch.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778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5A623"/>
                </a:solidFill>
                <a:latin typeface="Segoe UI"/>
              </a:rPr>
              <a:t>ON-DEVICE MODELS AND THE RED LIGHT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7782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Three models, each with a fallback that still demos, and a phone-only build plan.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54312" y="41148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3224A"/>
          </a:solidFill>
          <a:ln w="12700">
            <a:solidFill>
              <a:srgbClr val="3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4312" y="411480"/>
            <a:ext cx="233172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A9A6C2"/>
                </a:solidFill>
                <a:latin typeface="Segoe UI"/>
              </a:rPr>
              <a:t>SCORES  </a:t>
            </a:r>
            <a:r>
              <a:rPr sz="950" b="1" i="0">
                <a:solidFill>
                  <a:srgbClr val="F5A623"/>
                </a:solidFill>
                <a:latin typeface="Segoe UI"/>
              </a:rPr>
              <a:t>OFFICE KIT USAGE</a:t>
            </a:r>
            <a:r>
              <a:rPr sz="950" b="1" i="0">
                <a:solidFill>
                  <a:srgbClr val="FFFFFF"/>
                </a:solidFill>
                <a:latin typeface="Segoe UI"/>
              </a:rPr>
              <a:t>  10%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9525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SmartLease Edge · iQOO Hackathon 2026 · Chennai City Battle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55664"/>
            <a:ext cx="107899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10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2103120" cy="384048"/>
          </a:xfrm>
          <a:prstGeom prst="rect">
            <a:avLst/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600200"/>
            <a:ext cx="1956815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39" y="1600200"/>
            <a:ext cx="2286000" cy="384048"/>
          </a:xfrm>
          <a:prstGeom prst="rect">
            <a:avLst/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79191" y="1600200"/>
            <a:ext cx="2139696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Architecture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1600200"/>
            <a:ext cx="914400" cy="384048"/>
          </a:xfrm>
          <a:prstGeom prst="rect">
            <a:avLst/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65192" y="1600200"/>
            <a:ext cx="768096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Size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06440" y="1600200"/>
            <a:ext cx="2194560" cy="384048"/>
          </a:xfrm>
          <a:prstGeom prst="rect">
            <a:avLst/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79592" y="1600200"/>
            <a:ext cx="2048255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Runtime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1600200"/>
            <a:ext cx="1097280" cy="384048"/>
          </a:xfrm>
          <a:prstGeom prst="rect">
            <a:avLst/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74152" y="1600200"/>
            <a:ext cx="950976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Latency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1600200"/>
            <a:ext cx="2587752" cy="384048"/>
          </a:xfrm>
          <a:prstGeom prst="rect">
            <a:avLst/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71432" y="1600200"/>
            <a:ext cx="244144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If it fails on stage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1984248"/>
            <a:ext cx="210312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1984248"/>
            <a:ext cx="1956815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Wall-defect segmenter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39" y="1984248"/>
            <a:ext cx="228600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79191" y="1984248"/>
            <a:ext cx="2139696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YOLOv8n-Seg, INT8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92040" y="1984248"/>
            <a:ext cx="91440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65192" y="1984248"/>
            <a:ext cx="768096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~6 MB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06440" y="1984248"/>
            <a:ext cx="219456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79592" y="1984248"/>
            <a:ext cx="2048255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ExecuTorch  → Hexagon HTP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1984248"/>
            <a:ext cx="109728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74152" y="1984248"/>
            <a:ext cx="950976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target &lt;30 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98280" y="1984248"/>
            <a:ext cx="2587752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71432" y="1984248"/>
            <a:ext cx="2441448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XNNPACK CPU .pte (~180 ms); heuristic segmenter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2551176"/>
            <a:ext cx="2103120" cy="566928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" y="2551176"/>
            <a:ext cx="1956815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Tap classifier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06039" y="2551176"/>
            <a:ext cx="2286000" cy="566928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79191" y="2551176"/>
            <a:ext cx="2139696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Logistic regression, 36 MFCC features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92040" y="2551176"/>
            <a:ext cx="914400" cy="566928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65192" y="2551176"/>
            <a:ext cx="768096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73 KB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06440" y="2551176"/>
            <a:ext cx="2194560" cy="566928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79592" y="2551176"/>
            <a:ext cx="2048255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Plain CPU, 36 multiply-adds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01000" y="2551176"/>
            <a:ext cx="1097280" cy="566928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4152" y="2551176"/>
            <a:ext cx="950976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&lt;3 ms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98280" y="2551176"/>
            <a:ext cx="2587752" cy="566928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71432" y="2551176"/>
            <a:ext cx="2441448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Decay-time heuristic already in app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3118104"/>
            <a:ext cx="210312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6072" y="3118104"/>
            <a:ext cx="1956815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Report writer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06039" y="3118104"/>
            <a:ext cx="228600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79191" y="3118104"/>
            <a:ext cx="2139696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Gemma 4 E4B-it (.litertlm)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92040" y="3118104"/>
            <a:ext cx="91440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65192" y="3118104"/>
            <a:ext cx="768096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~3.7 GB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06440" y="3118104"/>
            <a:ext cx="219456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79592" y="3118104"/>
            <a:ext cx="2048255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LiteRT-LM, GPU/CPU delegate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01000" y="3118104"/>
            <a:ext cx="109728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74152" y="3118104"/>
            <a:ext cx="950976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loads + narrates; thermal-dependent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98280" y="3118104"/>
            <a:ext cx="2587752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71432" y="3118104"/>
            <a:ext cx="2441448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Adaptive token budget under memory/thermal pressure; then rule-based template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3794760"/>
            <a:ext cx="11155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5A623"/>
                </a:solidFill>
                <a:latin typeface="Segoe UI"/>
              </a:rPr>
              <a:t>RED LIGHT / GREEN LIGHT: WHAT HAPPENS ON THE PHONE ALONE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2920" y="4114800"/>
            <a:ext cx="3657600" cy="1965960"/>
          </a:xfrm>
          <a:prstGeom prst="roundRect">
            <a:avLst>
              <a:gd name="adj" fmla="val 6511"/>
            </a:avLst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502920" y="4224528"/>
            <a:ext cx="54864" cy="1746504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7240" y="4242816"/>
            <a:ext cx="3246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Red Light (~10.5 h, phone only)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7240" y="4700016"/>
            <a:ext cx="3246120" cy="13807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A9A6C2"/>
                </a:solidFill>
                <a:latin typeface="Segoe UI"/>
              </a:rPr>
              <a:t>On-device data capture of venue walls and tiles · threshold tuning · NPU latency runs · IR capture of the venue AC. Driven from the laptop through Office Kit remote control and shared clipboard.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270248" y="4114800"/>
            <a:ext cx="3657600" cy="1965960"/>
          </a:xfrm>
          <a:prstGeom prst="roundRect">
            <a:avLst>
              <a:gd name="adj" fmla="val 6511"/>
            </a:avLst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270248" y="4224528"/>
            <a:ext cx="54864" cy="174650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44568" y="4242816"/>
            <a:ext cx="3246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Green Light (~8.5 h, both devices)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44568" y="4700016"/>
            <a:ext cx="3246120" cy="13807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A9A6C2"/>
                </a:solidFill>
                <a:latin typeface="Segoe UI"/>
              </a:rPr>
              <a:t>Model export and quantisation · Gradle builds · debugging · overnight polish. APK drag-dropped to the phone with Office Kit file transfer.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028431" y="4114800"/>
            <a:ext cx="3657600" cy="1965960"/>
          </a:xfrm>
          <a:prstGeom prst="roundRect">
            <a:avLst>
              <a:gd name="adj" fmla="val 6511"/>
            </a:avLst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028431" y="4224528"/>
            <a:ext cx="54864" cy="1746504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02752" y="4242816"/>
            <a:ext cx="324611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Office Kit in the pitch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02752" y="4700016"/>
            <a:ext cx="3246120" cy="13807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A9A6C2"/>
                </a:solidFill>
                <a:latin typeface="Segoe UI"/>
              </a:rPr>
              <a:t>Screen mirror to the projector for the live demo · the generated PDF lands on the laptop by file transfer · clipboard sync for the session ID. Practised before Sep 12.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778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5A623"/>
                </a:solidFill>
                <a:latin typeface="Segoe UI"/>
              </a:rP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7782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AI inspection apps exist. None run offline, and none test whether things actually work.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54312" y="41148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3224A"/>
          </a:solidFill>
          <a:ln w="12700">
            <a:solidFill>
              <a:srgbClr val="3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4312" y="411480"/>
            <a:ext cx="233172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A9A6C2"/>
                </a:solidFill>
                <a:latin typeface="Segoe UI"/>
              </a:rPr>
              <a:t>SCORES  </a:t>
            </a:r>
            <a:r>
              <a:rPr sz="950" b="1" i="0">
                <a:solidFill>
                  <a:srgbClr val="F5A623"/>
                </a:solidFill>
                <a:latin typeface="Segoe UI"/>
              </a:rPr>
              <a:t>NOVELTY &amp; IMPACT</a:t>
            </a:r>
            <a:r>
              <a:rPr sz="950" b="1" i="0">
                <a:solidFill>
                  <a:srgbClr val="FFFFFF"/>
                </a:solidFill>
                <a:latin typeface="Segoe UI"/>
              </a:rPr>
              <a:t>  20%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9525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SmartLease Edge · iQOO Hackathon 2026 · Chennai City Battle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55664"/>
            <a:ext cx="107899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11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2743200" cy="566928"/>
          </a:xfrm>
          <a:prstGeom prst="rect">
            <a:avLst/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600200"/>
            <a:ext cx="2596896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600200"/>
            <a:ext cx="1371600" cy="566928"/>
          </a:xfrm>
          <a:prstGeom prst="rect">
            <a:avLst/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9272" y="1600200"/>
            <a:ext cx="1225296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Offline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1600200"/>
            <a:ext cx="1737360" cy="566928"/>
          </a:xfrm>
          <a:prstGeom prst="rect">
            <a:avLst/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1600200"/>
            <a:ext cx="1591056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Functional test
(IR / acoustic)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79" y="1600200"/>
            <a:ext cx="1554480" cy="566928"/>
          </a:xfrm>
          <a:prstGeom prst="rect">
            <a:avLst/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1600200"/>
            <a:ext cx="1408176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Defect area
in sq ft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09559" y="1600200"/>
            <a:ext cx="1463040" cy="566928"/>
          </a:xfrm>
          <a:prstGeom prst="rect">
            <a:avLst/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82711" y="1600200"/>
            <a:ext cx="1316736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On-device AI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72599" y="1600200"/>
            <a:ext cx="2313432" cy="566928"/>
          </a:xfrm>
          <a:prstGeom prst="rect">
            <a:avLst/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45751" y="1600200"/>
            <a:ext cx="2167127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Price for one lease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167128"/>
            <a:ext cx="274320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2167128"/>
            <a:ext cx="2596896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NoBroker inspection (India)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2167128"/>
            <a:ext cx="137160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794759" y="2313432"/>
            <a:ext cx="274320" cy="27432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39" y="2276856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17720" y="2167128"/>
            <a:ext cx="173736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349240" y="2313432"/>
            <a:ext cx="274320" cy="27432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0" y="2276856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79" y="2167128"/>
            <a:ext cx="155448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995159" y="2313432"/>
            <a:ext cx="274320" cy="27432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39" y="2276856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09559" y="2167128"/>
            <a:ext cx="146304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503919" y="2221992"/>
            <a:ext cx="274320" cy="27432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8199" y="2185416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9559" y="2514600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A9A6C2"/>
                </a:solidFill>
                <a:latin typeface="Segoe UI"/>
              </a:rPr>
              <a:t>human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72599" y="2167128"/>
            <a:ext cx="2313432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45751" y="2167128"/>
            <a:ext cx="2167127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F1EEFA"/>
                </a:solidFill>
                <a:latin typeface="Segoe UI"/>
              </a:rPr>
              <a:t>₹1,649–5,999 + scheduling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2734056"/>
            <a:ext cx="2743200" cy="566928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" y="2734056"/>
            <a:ext cx="2596896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TurboTenant (US)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46120" y="2734056"/>
            <a:ext cx="1371600" cy="566928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794759" y="2880360"/>
            <a:ext cx="274320" cy="27432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39" y="2843784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17720" y="2734056"/>
            <a:ext cx="1737360" cy="566928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349240" y="2880360"/>
            <a:ext cx="274320" cy="27432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03520" y="2843784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55079" y="2734056"/>
            <a:ext cx="1554480" cy="566928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95159" y="2880360"/>
            <a:ext cx="274320" cy="27432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49439" y="2843784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✕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09559" y="2734056"/>
            <a:ext cx="1463040" cy="566928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503919" y="2880360"/>
            <a:ext cx="274320" cy="27432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58199" y="2843784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✕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72599" y="2734056"/>
            <a:ext cx="2313432" cy="566928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45751" y="2734056"/>
            <a:ext cx="2167127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F1EEFA"/>
                </a:solidFill>
                <a:latin typeface="Segoe UI"/>
              </a:rPr>
              <a:t>Free, manual photos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3300984"/>
            <a:ext cx="274320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6072" y="3300984"/>
            <a:ext cx="2596896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zInspector + zAssistant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46120" y="3300984"/>
            <a:ext cx="137160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794759" y="3447288"/>
            <a:ext cx="274320" cy="27432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49039" y="3410712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✕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617720" y="3300984"/>
            <a:ext cx="173736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349240" y="3447288"/>
            <a:ext cx="274320" cy="27432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03520" y="3410712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✕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55079" y="3300984"/>
            <a:ext cx="155448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995159" y="3447288"/>
            <a:ext cx="274320" cy="27432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949439" y="3410712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✕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909559" y="3300984"/>
            <a:ext cx="146304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503919" y="3355848"/>
            <a:ext cx="274320" cy="27432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58199" y="3319272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✕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09559" y="3648456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A9A6C2"/>
                </a:solidFill>
                <a:latin typeface="Segoe UI"/>
              </a:rPr>
              <a:t>cloud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372599" y="3300984"/>
            <a:ext cx="2313432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445751" y="3300984"/>
            <a:ext cx="2167127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F1EEFA"/>
                </a:solidFill>
                <a:latin typeface="Segoe UI"/>
              </a:rPr>
              <a:t>$0–115/mo per portfolio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02920" y="3867912"/>
            <a:ext cx="2743200" cy="566928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76072" y="3867912"/>
            <a:ext cx="2596896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RentCheck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46120" y="3867912"/>
            <a:ext cx="1371600" cy="566928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794759" y="4014215"/>
            <a:ext cx="274320" cy="27432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749039" y="3977639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✕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17720" y="3867912"/>
            <a:ext cx="1737360" cy="566928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349240" y="4014215"/>
            <a:ext cx="274320" cy="27432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303520" y="3977639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✕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355079" y="3867912"/>
            <a:ext cx="1554480" cy="566928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6995159" y="4014215"/>
            <a:ext cx="274320" cy="27432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949439" y="3977639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✕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909559" y="3867912"/>
            <a:ext cx="1463040" cy="566928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503919" y="3922776"/>
            <a:ext cx="274320" cy="27432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458199" y="3886200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✕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909559" y="4215383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A9A6C2"/>
                </a:solidFill>
                <a:latin typeface="Segoe UI"/>
              </a:rPr>
              <a:t>cloud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372599" y="3867912"/>
            <a:ext cx="2313432" cy="566928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445751" y="3867912"/>
            <a:ext cx="2167127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F1EEFA"/>
                </a:solidFill>
                <a:latin typeface="Segoe UI"/>
              </a:rPr>
              <a:t>$0.60–1.10/unit/mo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02920" y="4434840"/>
            <a:ext cx="274320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76072" y="4434840"/>
            <a:ext cx="2596896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ClaimSnap (insurance)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46120" y="4434840"/>
            <a:ext cx="137160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794759" y="4581144"/>
            <a:ext cx="274320" cy="27432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749039" y="4544568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✕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617720" y="4434840"/>
            <a:ext cx="173736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5349240" y="4581144"/>
            <a:ext cx="274320" cy="27432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303520" y="4544568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✕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355079" y="4434840"/>
            <a:ext cx="155448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995159" y="4489704"/>
            <a:ext cx="274320" cy="2743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949439" y="4453128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~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355079" y="4782312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A9A6C2"/>
                </a:solidFill>
                <a:latin typeface="Segoe UI"/>
              </a:rPr>
              <a:t>estimate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909559" y="4434840"/>
            <a:ext cx="146304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8503919" y="4489704"/>
            <a:ext cx="274320" cy="27432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458199" y="4453128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✕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909559" y="4782312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A9A6C2"/>
                </a:solidFill>
                <a:latin typeface="Segoe UI"/>
              </a:rPr>
              <a:t>cloud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372599" y="4434840"/>
            <a:ext cx="2313432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445751" y="4434840"/>
            <a:ext cx="2167127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F1EEFA"/>
                </a:solidFill>
                <a:latin typeface="Segoe UI"/>
              </a:rPr>
              <a:t>Not published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2920" y="5001768"/>
            <a:ext cx="2743200" cy="640080"/>
          </a:xfrm>
          <a:prstGeom prst="rect">
            <a:avLst/>
          </a:prstGeom>
          <a:solidFill>
            <a:srgbClr val="1F3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76072" y="5001768"/>
            <a:ext cx="2596896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SmartLease Edge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246120" y="5001768"/>
            <a:ext cx="1371600" cy="640080"/>
          </a:xfrm>
          <a:prstGeom prst="rect">
            <a:avLst/>
          </a:prstGeom>
          <a:solidFill>
            <a:srgbClr val="1F3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3794759" y="5184648"/>
            <a:ext cx="274320" cy="2743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749039" y="5148072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✓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617720" y="5001768"/>
            <a:ext cx="1737360" cy="640080"/>
          </a:xfrm>
          <a:prstGeom prst="rect">
            <a:avLst/>
          </a:prstGeom>
          <a:solidFill>
            <a:srgbClr val="1F3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5349240" y="5184648"/>
            <a:ext cx="274320" cy="2743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303520" y="5148072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✓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355079" y="5001768"/>
            <a:ext cx="1554480" cy="640080"/>
          </a:xfrm>
          <a:prstGeom prst="rect">
            <a:avLst/>
          </a:prstGeom>
          <a:solidFill>
            <a:srgbClr val="1F3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995159" y="5184648"/>
            <a:ext cx="274320" cy="2743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949439" y="5148072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✓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909559" y="5001768"/>
            <a:ext cx="1463040" cy="640080"/>
          </a:xfrm>
          <a:prstGeom prst="rect">
            <a:avLst/>
          </a:prstGeom>
          <a:solidFill>
            <a:srgbClr val="1F3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8503919" y="5093208"/>
            <a:ext cx="274320" cy="2743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458199" y="5056632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✓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909559" y="5385816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A9A6C2"/>
                </a:solidFill>
                <a:latin typeface="Segoe UI"/>
              </a:rPr>
              <a:t>NPU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372599" y="5001768"/>
            <a:ext cx="2313432" cy="640080"/>
          </a:xfrm>
          <a:prstGeom prst="rect">
            <a:avLst/>
          </a:prstGeom>
          <a:solidFill>
            <a:srgbClr val="1F3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445751" y="5001768"/>
            <a:ext cx="2167127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FFFFFF"/>
                </a:solidFill>
                <a:latin typeface="Segoe UI"/>
              </a:rPr>
              <a:t>Free + ₹299–499 per signed report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02920" y="5715000"/>
            <a:ext cx="111556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A9A6C2"/>
                </a:solidFill>
                <a:latin typeface="Segoe UI"/>
              </a:rPr>
              <a:t>Precise novelty claim: fully offline, on-device AI with functional diagnostic testing, priced for a single lease event. Cross-checked against five real products; 'AI property inspection' alone is not new and we never claim it 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778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5A623"/>
                </a:solidFill>
                <a:latin typeface="Segoe UI"/>
              </a:rPr>
              <a:t>WORKING MVP, HONESTLY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7782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What runs today, what ships by Sep 12, and what happens live at the table.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54312" y="41148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3224A"/>
          </a:solidFill>
          <a:ln w="12700">
            <a:solidFill>
              <a:srgbClr val="3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4312" y="411480"/>
            <a:ext cx="233172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A9A6C2"/>
                </a:solidFill>
                <a:latin typeface="Segoe UI"/>
              </a:rPr>
              <a:t>SCORES  </a:t>
            </a:r>
            <a:r>
              <a:rPr sz="950" b="1" i="0">
                <a:solidFill>
                  <a:srgbClr val="F5A623"/>
                </a:solidFill>
                <a:latin typeface="Segoe UI"/>
              </a:rPr>
              <a:t>END PRODUCT QUALITY</a:t>
            </a:r>
            <a:r>
              <a:rPr sz="950" b="1" i="0">
                <a:solidFill>
                  <a:srgbClr val="FFFFFF"/>
                </a:solidFill>
                <a:latin typeface="Segoe UI"/>
              </a:rPr>
              <a:t>  30%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9525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SmartLease Edge · iQOO Hackathon 2026 · Chennai City Battle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55664"/>
            <a:ext cx="107899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12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00200"/>
            <a:ext cx="3611880" cy="3749039"/>
          </a:xfrm>
          <a:prstGeom prst="roundRect">
            <a:avLst>
              <a:gd name="adj" fmla="val 3544"/>
            </a:avLst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600200"/>
            <a:ext cx="3611880" cy="457200"/>
          </a:xfrm>
          <a:prstGeom prst="roundRect">
            <a:avLst>
              <a:gd name="adj" fmla="val 28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3611880" cy="22860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0020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4142B"/>
                </a:solidFill>
                <a:latin typeface="Segoe UI"/>
              </a:rPr>
              <a:t>Real and running 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94560"/>
            <a:ext cx="3291840" cy="3108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1EEFA"/>
                </a:solidFill>
                <a:latin typeface="Segoe UI"/>
              </a:rPr>
              <a:t>✓  CameraX capture + preview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1EEFA"/>
                </a:solidFill>
                <a:latin typeface="Segoe UI"/>
              </a:rPr>
              <a:t>✓  AR baseline alignment (SensorManager + OIS)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1EEFA"/>
                </a:solidFill>
                <a:latin typeface="Segoe UI"/>
              </a:rPr>
              <a:t>✓  ML Kit OCR of meters and nameplates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1EEFA"/>
                </a:solidFill>
                <a:latin typeface="Segoe UI"/>
              </a:rPr>
              <a:t>✓  IR transmit via ConsumerIrManager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1EEFA"/>
                </a:solidFill>
                <a:latin typeface="Segoe UI"/>
              </a:rPr>
              <a:t>✓  YOLOv8n-Seg segmenter live, honest fallback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1EEFA"/>
                </a:solidFill>
                <a:latin typeface="Segoe UI"/>
              </a:rPr>
              <a:t>✓  Gemma 4 narrator, audited (LiteRT-LM)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1EEFA"/>
                </a:solidFill>
                <a:latin typeface="Segoe UI"/>
              </a:rPr>
              <a:t>✓  SHA-256 fingerprint + dual signature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600200"/>
            <a:ext cx="3611880" cy="3749039"/>
          </a:xfrm>
          <a:prstGeom prst="roundRect">
            <a:avLst>
              <a:gd name="adj" fmla="val 3544"/>
            </a:avLst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79392" y="1600200"/>
            <a:ext cx="3611880" cy="457200"/>
          </a:xfrm>
          <a:prstGeom prst="roundRect">
            <a:avLst>
              <a:gd name="adj" fmla="val 28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9392" y="1828800"/>
            <a:ext cx="3611880" cy="2286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2272" y="160020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4142B"/>
                </a:solidFill>
                <a:latin typeface="Segoe UI"/>
              </a:rPr>
              <a:t>New today, small and honest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2194560"/>
            <a:ext cx="3291840" cy="3108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1EEFA"/>
                </a:solidFill>
                <a:latin typeface="Segoe UI"/>
              </a:rPr>
              <a:t>✓  Live 3-room Judge Demo: real pipeline, not scripted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1EEFA"/>
                </a:solidFill>
                <a:latin typeface="Segoe UI"/>
              </a:rPr>
              <a:t>✓  Fault descriptions under every photo (PDF + screen)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1EEFA"/>
                </a:solidFill>
                <a:latin typeface="Segoe UI"/>
              </a:rPr>
              <a:t>✓  Tap model: logistic regression, 15 taps, 80% CV acc.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1EEFA"/>
                </a:solidFill>
                <a:latin typeface="Segoe UI"/>
              </a:rPr>
              <a:t>✓  Segmenter latency/mAP: still targets, not measured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5864" y="1600200"/>
            <a:ext cx="3611880" cy="3749039"/>
          </a:xfrm>
          <a:prstGeom prst="roundRect">
            <a:avLst>
              <a:gd name="adj" fmla="val 3544"/>
            </a:avLst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55864" y="1600200"/>
            <a:ext cx="3611880" cy="457200"/>
          </a:xfrm>
          <a:prstGeom prst="roundRect">
            <a:avLst>
              <a:gd name="adj" fmla="val 28000"/>
            </a:avLst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55864" y="1828800"/>
            <a:ext cx="3611880" cy="228600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160020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Left to do today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2194560"/>
            <a:ext cx="3291840" cy="3108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1EEFA"/>
                </a:solidFill>
                <a:latin typeface="Segoe UI"/>
              </a:rPr>
              <a:t>✓  Grow the tap-classifier training set past 15 taps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1EEFA"/>
                </a:solidFill>
                <a:latin typeface="Segoe UI"/>
              </a:rPr>
              <a:t>✓  Final Office Kit + timing rehearsal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1EEFA"/>
                </a:solidFill>
                <a:latin typeface="Segoe UI"/>
              </a:rPr>
              <a:t>✓  Airplane-mode end-to-end run before the pitch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1EEFA"/>
                </a:solidFill>
                <a:latin typeface="Segoe UI"/>
              </a:rPr>
              <a:t>✓  One flow, one aha, then stop talking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532120"/>
            <a:ext cx="11183112" cy="566928"/>
          </a:xfrm>
          <a:prstGeom prst="roundRect">
            <a:avLst>
              <a:gd name="adj" fmla="val 16129"/>
            </a:avLst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532120"/>
            <a:ext cx="1088136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FFFFFF"/>
                </a:solidFill>
                <a:latin typeface="Segoe UI"/>
              </a:rPr>
              <a:t>Both hard models run today. The tap classifier is real but trained on only 15 taps, and we say that number out loud rather than hide behind a vague 'trained model' claim.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778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5A623"/>
                </a:solidFill>
                <a:latin typeface="Segoe UI"/>
              </a:rPr>
              <a:t>IMPACT AND SCALABILITY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7782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One engine, four products, priced for one lease instead of a portfolio.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54312" y="41148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3224A"/>
          </a:solidFill>
          <a:ln w="12700">
            <a:solidFill>
              <a:srgbClr val="3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4312" y="411480"/>
            <a:ext cx="233172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A9A6C2"/>
                </a:solidFill>
                <a:latin typeface="Segoe UI"/>
              </a:rPr>
              <a:t>SCORES  </a:t>
            </a:r>
            <a:r>
              <a:rPr sz="950" b="1" i="0">
                <a:solidFill>
                  <a:srgbClr val="F5A623"/>
                </a:solidFill>
                <a:latin typeface="Segoe UI"/>
              </a:rPr>
              <a:t>NOVELTY &amp; IMPACT</a:t>
            </a:r>
            <a:r>
              <a:rPr sz="950" b="1" i="0">
                <a:solidFill>
                  <a:srgbClr val="FFFFFF"/>
                </a:solidFill>
                <a:latin typeface="Segoe UI"/>
              </a:rPr>
              <a:t>  20%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9525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SmartLease Edge · iQOO Hackathon 2026 · Chennai City Battle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55664"/>
            <a:ext cx="107899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13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00200"/>
            <a:ext cx="3566160" cy="2148840"/>
          </a:xfrm>
          <a:prstGeom prst="roundRect">
            <a:avLst>
              <a:gd name="adj" fmla="val 5957"/>
            </a:avLst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746504"/>
            <a:ext cx="347472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1288" y="1728216"/>
            <a:ext cx="2770632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Who it serves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185415"/>
            <a:ext cx="3227832" cy="1563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A9A6C2"/>
                </a:solidFill>
                <a:latin typeface="Segoe UI"/>
              </a:rPr>
              <a:t>Tenants keep deposits with timestamped evidence. Landlords document damage before it becomes a dispute. PG and co-living operators inspect 50+ rooms a day without a surveyor. Works in Tier-2/3 cities where the cloud apps do not.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600200"/>
            <a:ext cx="3566160" cy="2148840"/>
          </a:xfrm>
          <a:prstGeom prst="roundRect">
            <a:avLst>
              <a:gd name="adj" fmla="val 5957"/>
            </a:avLst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up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136" y="1746504"/>
            <a:ext cx="347472" cy="3474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974336" y="1728216"/>
            <a:ext cx="2770632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Priced for one move-out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185415"/>
            <a:ext cx="3227832" cy="1563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A9A6C2"/>
                </a:solidFill>
                <a:latin typeface="Segoe UI"/>
              </a:rPr>
              <a:t>Free baseline capture. ₹299–499 for the full diagnostic plus signed report, 5–10× cheaper than a ₹1,649–5,999 human inspection and available on demand. No subscription for a once-a-year event.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600200"/>
            <a:ext cx="3566160" cy="2148840"/>
          </a:xfrm>
          <a:prstGeom prst="roundRect">
            <a:avLst>
              <a:gd name="adj" fmla="val 5957"/>
            </a:avLst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746504"/>
            <a:ext cx="347472" cy="3474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778240" y="1728216"/>
            <a:ext cx="2770631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Scales without new engines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185415"/>
            <a:ext cx="3227832" cy="1563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A9A6C2"/>
                </a:solidFill>
                <a:latin typeface="Segoe UI"/>
              </a:rPr>
              <a:t>New defect class = 200 labelled images, same pipeline. New language = one LLM prompt (Tamil, Hindi). Runs on any Snapdragon 8 Gen 2+ via ExecuTorch; iQOO-exclusive parts are the IR blaster and Sensing Hub.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977639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5A623"/>
                </a:solidFill>
                <a:latin typeface="Segoe UI"/>
              </a:rPr>
              <a:t>ROADMAP: SAME VERIFICATION ENGINE, HIGHER FREQUENCY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343400"/>
            <a:ext cx="2697480" cy="1737360"/>
          </a:xfrm>
          <a:prstGeom prst="roundRect">
            <a:avLst>
              <a:gd name="adj" fmla="val 6315"/>
            </a:avLst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407408"/>
            <a:ext cx="2468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F5A623"/>
                </a:solidFill>
                <a:latin typeface="Segoe UI"/>
              </a:rPr>
              <a:t>Phase 0 · Sep 12–13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66344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Move-Out 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66360"/>
            <a:ext cx="246888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The hackathon MVP. Once per lease.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218688" y="5074920"/>
            <a:ext cx="128016" cy="274320"/>
          </a:xfrm>
          <a:prstGeom prst="rightArrow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37560" y="4343400"/>
            <a:ext cx="2697480" cy="1737360"/>
          </a:xfrm>
          <a:prstGeom prst="roundRect">
            <a:avLst>
              <a:gd name="adj" fmla="val 6315"/>
            </a:avLst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0" y="4407408"/>
            <a:ext cx="2468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F5A623"/>
                </a:solidFill>
                <a:latin typeface="Segoe UI"/>
              </a:rPr>
              <a:t>Phase 1 · 2–4 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466344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Maintenance Mode + Insurance Assist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5166360"/>
            <a:ext cx="246888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Quarterly appliance health checks; claim-ready docs with functional proof. ₹99–149/mo.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053328" y="5074920"/>
            <a:ext cx="128016" cy="274320"/>
          </a:xfrm>
          <a:prstGeom prst="rightArrow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72200" y="4343400"/>
            <a:ext cx="2697480" cy="1737360"/>
          </a:xfrm>
          <a:prstGeom prst="roundRect">
            <a:avLst>
              <a:gd name="adj" fmla="val 6315"/>
            </a:avLst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4407408"/>
            <a:ext cx="2468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F5A623"/>
                </a:solidFill>
                <a:latin typeface="Segoe UI"/>
              </a:rPr>
              <a:t>Phase 2 · 4–8 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66344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Buyer's Check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5166360"/>
            <a:ext cx="246888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Self-service pre-purchase inspection at ₹499–999 vs ₹10,000+ professional.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8887968" y="5074920"/>
            <a:ext cx="128016" cy="274320"/>
          </a:xfrm>
          <a:prstGeom prst="rightArrow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006840" y="4343400"/>
            <a:ext cx="2697480" cy="1737360"/>
          </a:xfrm>
          <a:prstGeom prst="roundRect">
            <a:avLst>
              <a:gd name="adj" fmla="val 6315"/>
            </a:avLst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4407408"/>
            <a:ext cx="2468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F5A623"/>
                </a:solidFill>
                <a:latin typeface="Segoe UI"/>
              </a:rPr>
              <a:t>Phase 3 · 6–12 mo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466344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B2B2C licensing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5166360"/>
            <a:ext cx="246888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Per-unit licences for co-living operators and property managers; rental platforms embed the engine.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5A623"/>
                </a:solidFill>
                <a:latin typeface="Segoe UI"/>
              </a:rPr>
              <a:t>TEAM AND SCORING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Three people, zero overlap, and a plan for each of the six judged criteria.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9525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SmartLease Edge · iQOO Hackathon 2026 · Chennai City Battle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7899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14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4572000" cy="1325880"/>
          </a:xfrm>
          <a:prstGeom prst="roundRect">
            <a:avLst>
              <a:gd name="adj" fmla="val 9655"/>
            </a:avLst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874519"/>
            <a:ext cx="777240" cy="77724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14142B"/>
                </a:solidFill>
                <a:latin typeface="Segoe UI"/>
              </a:rPr>
              <a:t>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73736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Muhammed Sayeedur Rahman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039112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F5A623"/>
                </a:solidFill>
                <a:latin typeface="Segoe UI"/>
              </a:rPr>
              <a:t>AI / NPU ENGINEER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331720"/>
            <a:ext cx="32918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Trains and exports the vision model, ExecuTorch INT8, LiteRT-LM integration for Gemma 4. Event day: integrate, tune to venue.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081528"/>
            <a:ext cx="4572000" cy="1325880"/>
          </a:xfrm>
          <a:prstGeom prst="roundRect">
            <a:avLst>
              <a:gd name="adj" fmla="val 9655"/>
            </a:avLst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5800" y="3355848"/>
            <a:ext cx="777240" cy="77724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55848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14142B"/>
                </a:solidFill>
                <a:latin typeface="Segoe UI"/>
              </a:rPr>
              <a:t>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218688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Mohammed Danish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520440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F5A623"/>
                </a:solidFill>
                <a:latin typeface="Segoe UI"/>
              </a:rPr>
              <a:t>ANDROID / HARDWARE LEAD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813048"/>
            <a:ext cx="32918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CameraX, AR overlay, AudioRecord, IR capture and replay, Office Kit Red Light sessions.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562856"/>
            <a:ext cx="4572000" cy="1325880"/>
          </a:xfrm>
          <a:prstGeom prst="roundRect">
            <a:avLst>
              <a:gd name="adj" fmla="val 9655"/>
            </a:avLst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4837176"/>
            <a:ext cx="777240" cy="77724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837176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14142B"/>
                </a:solidFill>
                <a:latin typeface="Segoe UI"/>
              </a:rPr>
              <a:t>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700016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Prem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001768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F5A623"/>
                </a:solidFill>
                <a:latin typeface="Segoe UI"/>
              </a:rPr>
              <a:t>PRODUCT / DEMO PITCHER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294376"/>
            <a:ext cx="32918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Report UI, pricing logic, sourced citations, pitch script, judge Q&amp;A.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0" y="1600200"/>
            <a:ext cx="1828800" cy="384048"/>
          </a:xfrm>
          <a:prstGeom prst="rect">
            <a:avLst/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76672" y="1600200"/>
            <a:ext cx="1682496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Criterion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0" y="1600200"/>
            <a:ext cx="868680" cy="384048"/>
          </a:xfrm>
          <a:prstGeom prst="rect">
            <a:avLst/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05472" y="1600200"/>
            <a:ext cx="722375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Weight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1600200"/>
            <a:ext cx="3685032" cy="384048"/>
          </a:xfrm>
          <a:prstGeom prst="rect">
            <a:avLst/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74152" y="1600200"/>
            <a:ext cx="353872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How SmartLease Edge scores 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03520" y="1984248"/>
            <a:ext cx="1828800" cy="603504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76672" y="1984248"/>
            <a:ext cx="1682496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End product quality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0" y="1984248"/>
            <a:ext cx="868680" cy="603504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05472" y="1984248"/>
            <a:ext cx="722375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30%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1000" y="1984248"/>
            <a:ext cx="3685032" cy="603504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74152" y="1984248"/>
            <a:ext cx="3538728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One complete flow: baseline  →  scan  →  tap  →  IR  →  signed PDF. Fallback for every model.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03520" y="2587752"/>
            <a:ext cx="1828800" cy="603504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76672" y="2587752"/>
            <a:ext cx="1682496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Novelty and impact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2320" y="2587752"/>
            <a:ext cx="868680" cy="603504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05472" y="2587752"/>
            <a:ext cx="722375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20%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01000" y="2587752"/>
            <a:ext cx="3685032" cy="603504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4152" y="2587752"/>
            <a:ext cx="3538728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Offline + functional testing; no competitor has either. Deposit disputes affect every renter.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03520" y="3191256"/>
            <a:ext cx="1828800" cy="603504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76672" y="3191256"/>
            <a:ext cx="1682496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Creative phone use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32320" y="3191256"/>
            <a:ext cx="868680" cy="603504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05472" y="3191256"/>
            <a:ext cx="722375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15%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01000" y="3191256"/>
            <a:ext cx="3685032" cy="603504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4152" y="3191256"/>
            <a:ext cx="3538728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Camera, mic, IR blaster, Sensing Hub and NPU all exercised in the demo (telemetry-visible).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03520" y="3794760"/>
            <a:ext cx="1828800" cy="603504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76672" y="3794760"/>
            <a:ext cx="1682496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Technical depth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32320" y="3794760"/>
            <a:ext cx="868680" cy="603504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05472" y="3794760"/>
            <a:ext cx="722375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15%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01000" y="3794760"/>
            <a:ext cx="3685032" cy="603504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74152" y="3794760"/>
            <a:ext cx="3538728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INT8 ExecuTorch segmenter, Gemma 4 via LiteRT-LM with a memory/thermal-aware load balancer, pinhole area math.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303520" y="4398264"/>
            <a:ext cx="1828800" cy="548640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76672" y="4398264"/>
            <a:ext cx="1682496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Office Kit usage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32320" y="4398264"/>
            <a:ext cx="868680" cy="548640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205472" y="4398264"/>
            <a:ext cx="722375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10%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01000" y="4398264"/>
            <a:ext cx="3685032" cy="548640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74152" y="4398264"/>
            <a:ext cx="3538728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Mirror, file transfer and remote control used through Red Light and in the pitch.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03520" y="4946904"/>
            <a:ext cx="1828800" cy="548640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76672" y="4946904"/>
            <a:ext cx="1682496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Demo and presentation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32320" y="4946904"/>
            <a:ext cx="868680" cy="548640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205472" y="4946904"/>
            <a:ext cx="722375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10%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001000" y="4946904"/>
            <a:ext cx="3685032" cy="548640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74152" y="4946904"/>
            <a:ext cx="3538728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3-minute script, one presenter + one driver, rehearsed 5×, recorded backup.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D1A63"/>
            </a:gs>
            <a:gs pos="100000">
              <a:srgbClr val="14142B"/>
            </a:gs>
          </a:gsLst>
          <a:lin scaled="0" ang="8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5A623"/>
                </a:solidFill>
                <a:latin typeface="Segoe UI"/>
              </a:rPr>
              <a:t>SMARTLEASE EDGE  ·  IQOO HACKATHON 2026  ·  CHENNAI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Every Indian renter deserves a fair move-out.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2971800"/>
            <a:ext cx="274320" cy="2743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935224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F1EEFA"/>
                </a:solidFill>
                <a:latin typeface="Segoe UI"/>
              </a:rPr>
              <a:t>Working Android app in the repo today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3429000"/>
            <a:ext cx="274320" cy="2743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392424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F1EEFA"/>
                </a:solidFill>
                <a:latin typeface="Segoe UI"/>
              </a:rPr>
              <a:t>Multi-modal: vision + acoustics + IR + on-device LLM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886200"/>
            <a:ext cx="274320" cy="2743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849624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8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F1EEFA"/>
                </a:solidFill>
                <a:latin typeface="Segoe UI"/>
              </a:rPr>
              <a:t>Built for iQOO 15 hardware, feature by feature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343400"/>
            <a:ext cx="274320" cy="2743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306824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29768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F1EEFA"/>
                </a:solidFill>
                <a:latin typeface="Segoe UI"/>
              </a:rPr>
              <a:t>100% offline, no network permission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800600"/>
            <a:ext cx="274320" cy="2743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764024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75488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F1EEFA"/>
                </a:solidFill>
                <a:latin typeface="Segoe UI"/>
              </a:rPr>
              <a:t>Tamper-evident, signed PDF both parties keep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03520"/>
            <a:ext cx="786384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F5A623"/>
                </a:solidFill>
                <a:latin typeface="Segoe UI"/>
              </a:rPr>
              <a:t>We are not pitching an idea. We are showing you a working system.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12648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A9A6C2"/>
                </a:solidFill>
                <a:latin typeface="Segoe UI"/>
              </a:rPr>
              <a:t>github.com/muhammedsayeedurrahman/smartlease-edge-chennai  ·  [email]  ·  Demo: live on the iQOO 15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0" y="1005840"/>
            <a:ext cx="2103120" cy="4386071"/>
          </a:xfrm>
          <a:prstGeom prst="roundRect">
            <a:avLst>
              <a:gd name="adj" fmla="val 19565"/>
            </a:avLst>
          </a:prstGeom>
          <a:solidFill>
            <a:srgbClr val="0B0B1A"/>
          </a:solidFill>
          <a:ln w="15875">
            <a:solidFill>
              <a:srgbClr val="4A4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creen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392" y="1078992"/>
            <a:ext cx="1956815" cy="4239767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9784080" y="1133856"/>
            <a:ext cx="91440" cy="91440"/>
          </a:xfrm>
          <a:prstGeom prst="ellipse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5A623"/>
                </a:solidFill>
                <a:latin typeface="Segoe U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Judge Q&amp;A: the answers we have ready.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9525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SmartLease Edge · iQOO Hackathon 2026 · Chennai City Battle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7899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16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3291840" cy="365760"/>
          </a:xfrm>
          <a:prstGeom prst="rect">
            <a:avLst/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600200"/>
            <a:ext cx="3145536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Likely question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794760" y="1600200"/>
            <a:ext cx="7891272" cy="365760"/>
          </a:xfrm>
          <a:prstGeom prst="rect">
            <a:avLst/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67912" y="1600200"/>
            <a:ext cx="7744968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Answer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65960"/>
            <a:ext cx="3291840" cy="502920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1965960"/>
            <a:ext cx="3145536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What if the model detects a false positive?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94760" y="1965960"/>
            <a:ext cx="7891272" cy="502920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67912" y="1965960"/>
            <a:ext cx="7744968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F1EEFA"/>
                </a:solidFill>
                <a:latin typeface="Segoe UI"/>
              </a:rPr>
              <a:t>Confidence below 0.30 is hidden, 0.30–0.50 is marked 'review', and any detection can be dismissed.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68880"/>
            <a:ext cx="3291840" cy="502920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2468880"/>
            <a:ext cx="3145536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How accurate is the area measurement?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94760" y="2468880"/>
            <a:ext cx="7891272" cy="502920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67912" y="2468880"/>
            <a:ext cx="7744968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F1EEFA"/>
                </a:solidFill>
                <a:latin typeface="Segoe UI"/>
              </a:rPr>
              <a:t>Pinhole model: area = pixels × Z²/(fx·fy). About ±10% with ARCore depth, ±20% with a typed distance -- good enough for severity bands.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971800"/>
            <a:ext cx="3291840" cy="502920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2971800"/>
            <a:ext cx="3145536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Does it work on other phones?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94760" y="2971800"/>
            <a:ext cx="7891272" cy="502920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67912" y="2971800"/>
            <a:ext cx="7744968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F1EEFA"/>
                </a:solidFill>
                <a:latin typeface="Segoe UI"/>
              </a:rPr>
              <a:t>Any Snapdragon 8 Gen 2+ via ExecuTorch. The IR blaster and Sensing Hub paths are iQOO/vivo-specific.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474720"/>
            <a:ext cx="3291840" cy="502920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" y="3474720"/>
            <a:ext cx="3145536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Privacy?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94760" y="3474720"/>
            <a:ext cx="7891272" cy="502920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67912" y="3474720"/>
            <a:ext cx="7744968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F1EEFA"/>
                </a:solidFill>
                <a:latin typeface="Segoe UI"/>
              </a:rPr>
              <a:t>No INTERNET permission in the manifest. No account, no analytics. The PDF is the only artefact and the user chooses where it goes.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977639"/>
            <a:ext cx="3291840" cy="502920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" y="3977639"/>
            <a:ext cx="3145536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Why not ChatGPT plus a photo?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94760" y="3977639"/>
            <a:ext cx="7891272" cy="502920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67912" y="3977639"/>
            <a:ext cx="7744968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F1EEFA"/>
                </a:solidFill>
                <a:latin typeface="Segoe UI"/>
              </a:rPr>
              <a:t>Can't measure area, hear a hollow tile, fire an IR code, or sign a PDF -- and needs internet a vacated flat won't have.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480559"/>
            <a:ext cx="3291840" cy="502920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" y="4480559"/>
            <a:ext cx="3145536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Why YOLOv8 nano?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94760" y="4480559"/>
            <a:ext cx="7891272" cy="502920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67912" y="4480559"/>
            <a:ext cx="7744968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F1EEFA"/>
                </a:solidFill>
                <a:latin typeface="Segoe UI"/>
              </a:rPr>
              <a:t>6 MB INT8 fits HTP memory and runs in ~30 ms; larger models exceed the budget without a meaningful mAP gain on wall defects.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983479"/>
            <a:ext cx="3291840" cy="502920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" y="4983479"/>
            <a:ext cx="3145536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Why Gemma 4 and not Llama 3.2 3B?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94760" y="4983479"/>
            <a:ext cx="7891272" cy="502920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67912" y="4983479"/>
            <a:ext cx="7744968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F1EEFA"/>
                </a:solidFill>
                <a:latin typeface="Segoe UI"/>
              </a:rPr>
              <a:t>GenieX rejected the .litertlm container, so we moved to Gemma 4 via Google's LiteRT-LM, which loads and narrates on this phone.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486399"/>
            <a:ext cx="3291840" cy="502920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6072" y="5486399"/>
            <a:ext cx="3145536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How good is the tap classifier really?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94760" y="5486399"/>
            <a:ext cx="7891272" cy="502920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67912" y="5486399"/>
            <a:ext cx="7744968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F1EEFA"/>
                </a:solidFill>
                <a:latin typeface="Segoe UI"/>
              </a:rPr>
              <a:t>Logistic regression, 36 MFCC features, 15 training taps: 80% CV accuracy, 95% CI 55-93%. Small sample, said plainly; heuristic is the fallback.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5989319"/>
            <a:ext cx="3291840" cy="502920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6072" y="5989319"/>
            <a:ext cx="3145536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Business model?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94760" y="5989319"/>
            <a:ext cx="7891272" cy="502920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67912" y="5989319"/>
            <a:ext cx="7744968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F1EEFA"/>
                </a:solidFill>
                <a:latin typeface="Segoe UI"/>
              </a:rPr>
              <a:t>Free for consumers; ₹299–499 per signed report; B2B2C licensing to co-living operators and rental platforms is the revenue anchor.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5A623"/>
                </a:solidFill>
                <a:latin typeface="Segoe U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Sources behind every number on these slides.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9525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SmartLease Edge · iQOO Hackathon 2026 · Chennai City Battle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7899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17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60350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Model Tenancy Act 2021: 2-month residential deposit cap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00200"/>
            <a:ext cx="51206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A9A6C2"/>
                </a:solidFill>
                <a:latin typeface="Consolas"/>
              </a:rPr>
              <a:t>prsindia.org/billtrack/the-model-tenancy-act-2021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2029967"/>
            <a:ext cx="11183112" cy="0"/>
          </a:xfrm>
          <a:prstGeom prst="line">
            <a:avLst/>
          </a:prstGeom>
          <a:ln w="6350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2048256"/>
            <a:ext cx="60350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Bengaluru deposits 6–10 months, market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48256"/>
            <a:ext cx="51206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A9A6C2"/>
                </a:solidFill>
                <a:latin typeface="Consolas"/>
              </a:rPr>
              <a:t>blogs.mittiyo.com · werentt.com (Karnataka deposit guides)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2478024"/>
            <a:ext cx="11183112" cy="0"/>
          </a:xfrm>
          <a:prstGeom prst="line">
            <a:avLst/>
          </a:prstGeom>
          <a:ln w="6350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2496312"/>
            <a:ext cx="60350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Deposit issues &gt;40% of landlord–tenant disputes (industry estimate)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96312"/>
            <a:ext cx="51206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A9A6C2"/>
                </a:solidFill>
                <a:latin typeface="Consolas"/>
              </a:rPr>
              <a:t>99acres.com/articles/what-are-security-deposits.html · rentconnect.in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2920" y="2926080"/>
            <a:ext cx="11183112" cy="0"/>
          </a:xfrm>
          <a:prstGeom prst="line">
            <a:avLst/>
          </a:prstGeom>
          <a:ln w="6350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2944368"/>
            <a:ext cx="60350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NoBroker inspection ₹1,649–5,999; zInspector, RentCheck, TurboTenant pricing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944368"/>
            <a:ext cx="51206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A9A6C2"/>
                </a:solidFill>
                <a:latin typeface="Consolas"/>
              </a:rPr>
              <a:t>Vendor pages, Aug 2026 (see SmartLease-Edge-Chennai-Battle-Plan.pdf, section 2)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3374135"/>
            <a:ext cx="11183112" cy="0"/>
          </a:xfrm>
          <a:prstGeom prst="line">
            <a:avLst/>
          </a:prstGeom>
          <a:ln w="6350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3392424"/>
            <a:ext cx="60350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iQOO 15 specs: Snapdragon 8 Elite Gen 5, IMX921 OIS, 7000 mAh, 6000 nits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392424"/>
            <a:ext cx="51206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A9A6C2"/>
                </a:solidFill>
                <a:latin typeface="Consolas"/>
              </a:rPr>
              <a:t>gsmarena.com · 91mobiles.com · iqoo.com/in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2920" y="3822191"/>
            <a:ext cx="11183112" cy="0"/>
          </a:xfrm>
          <a:prstGeom prst="line">
            <a:avLst/>
          </a:prstGeom>
          <a:ln w="6350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2920" y="3840480"/>
            <a:ext cx="60350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Hexagon NPU 37% faster; INT4/INT8/FP16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840480"/>
            <a:ext cx="51206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A9A6C2"/>
                </a:solidFill>
                <a:latin typeface="Consolas"/>
              </a:rPr>
              <a:t>Qualcomm Snapdragon 8 Elite Gen 5 product brief (PDF)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4270248"/>
            <a:ext cx="11183112" cy="0"/>
          </a:xfrm>
          <a:prstGeom prst="line">
            <a:avLst/>
          </a:prstGeom>
          <a:ln w="6350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4288536"/>
            <a:ext cx="60350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Gemma 4 (.litertlm) loads + narrates on the demo iQOO 15 via LiteRT-LM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288536"/>
            <a:ext cx="51206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A9A6C2"/>
                </a:solidFill>
                <a:latin typeface="Consolas"/>
              </a:rPr>
              <a:t>huggingface.co/litert-community · docs/GEMMA4_SETUP.md, GemmaLoadDeviceTest (own device test)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2920" y="4718303"/>
            <a:ext cx="11183112" cy="0"/>
          </a:xfrm>
          <a:prstGeom prst="line">
            <a:avLst/>
          </a:prstGeom>
          <a:ln w="6350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2920" y="4736592"/>
            <a:ext cx="60350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Tap classifier: 80% grouped CV accuracy (95% CI 55-93%), 15 training taps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736592"/>
            <a:ext cx="51206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A9A6C2"/>
                </a:solidFill>
                <a:latin typeface="Consolas"/>
              </a:rPr>
              <a:t>app/src/main/assets/acoustic_tap_model.json, produced by ml/acoustic (own training run)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02920" y="5166359"/>
            <a:ext cx="11183112" cy="0"/>
          </a:xfrm>
          <a:prstGeom prst="line">
            <a:avLst/>
          </a:prstGeom>
          <a:ln w="6350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02920" y="5184648"/>
            <a:ext cx="60350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iQOO 15 thermal/CPU/RAM load-test 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184648"/>
            <a:ext cx="51206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A9A6C2"/>
                </a:solidFill>
                <a:latin typeface="Consolas"/>
              </a:rPr>
              <a:t>tools/load_test_monitor.py, tools/perf_results/ (own captured run, Sep 13 2026)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02920" y="5614416"/>
            <a:ext cx="11183112" cy="0"/>
          </a:xfrm>
          <a:prstGeom prst="line">
            <a:avLst/>
          </a:prstGeom>
          <a:ln w="6350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02920" y="5632704"/>
            <a:ext cx="60350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iQOO Hackathon 2026 rubric, Red/Green Light, Office Kit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632704"/>
            <a:ext cx="51206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A9A6C2"/>
                </a:solidFill>
                <a:latin typeface="Consolas"/>
              </a:rPr>
              <a:t>iqoo.reskilll.com · reskilll.com/blogs (iQOO City Battles, strategy guide)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02920" y="6062472"/>
            <a:ext cx="11183112" cy="0"/>
          </a:xfrm>
          <a:prstGeom prst="line">
            <a:avLst/>
          </a:prstGeom>
          <a:ln w="6350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02920" y="6080760"/>
            <a:ext cx="60350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ExecuTorch Qualcomm backend, PT2E quantisation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6080760"/>
            <a:ext cx="51206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A9A6C2"/>
                </a:solidFill>
                <a:latin typeface="Consolas"/>
              </a:rPr>
              <a:t>pytorch.org/executorch · Qualcomm AI Hub docs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6350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02920" y="6528816"/>
            <a:ext cx="60350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Photos: cracked wall (CC0), peeling paint (CC BY-SA 4.0)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6528816"/>
            <a:ext cx="51206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A9A6C2"/>
                </a:solidFill>
                <a:latin typeface="Consolas"/>
              </a:rPr>
              <a:t>Wikimedia Commons; attribution in ATTRIBUTION.json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02920" y="6958583"/>
            <a:ext cx="11183112" cy="0"/>
          </a:xfrm>
          <a:prstGeom prst="line">
            <a:avLst/>
          </a:prstGeom>
          <a:ln w="6350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