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0:00-0:10. Say: 'SmartLease Edge turns the iQOO 15 into a property inspector. Point the camera, tap the wall, point the IR blaster at the AC, and in sixty seconds both tenant and landlord get a signed report. Nothing leaves the phone.'</a:t>
            </a:r>
          </a:p>
          <a:p/>
          <a:p>
            <a:r>
              <a:t>PITCH CUT (3-5 min final pitch): use slides 1, 2, 4, 5, 8, 9, 11, 12, 15. Idea-screening submission: all slides 1-15; 16-17 are appendix.</a:t>
            </a:r>
          </a:p>
          <a:p>
            <a:r>
              <a:t>Fill in team names and bucket before submitting. Replace mockups with real screenshots as soon as the UI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0:10-0:45. Hook with a person, not a market: Priya. Then the three numbers. Close on the root cause: no timestamped baseline.</a:t>
            </a:r>
          </a:p>
          <a:p>
            <a:r>
              <a:t>Sources on slide (all verifiable): Model Tenancy Act 2021 cap = 2 months residential (PRS India). Bengaluru 6-10 months is market practice, not law. '&gt;40% of disputes' is an industry estimate from rental portals (99acres/RentConnect), say 'industry estimate' out loud. NoBroker inspection price from its own listing.</a:t>
            </a:r>
          </a:p>
          <a:p>
            <a:r>
              <a:t>Do NOT use the older draft numbers (Rs 2,400 crore, 1.1 crore agreements, 38%) - no source was found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0:45-1:05. This slide answers the question every on-device-AI judge asks: is local execution essential or decorative? ExecuTorch hackathon organisers said winners were apps 'where local execution was essential to the product experience'. Here it is essential three ways.</a:t>
            </a:r>
          </a:p>
          <a:p>
            <a:r>
              <a:t>Sources: Qualcomm Snapdragon 8 Elite Gen 5 product brief (37% NPU); Qualcomm AI Hub Llama-v3.2-3B-Instruct model card + Grape Up benchmark (~10 tok/s W4A16 via Genie).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1:05-1:30. Walk the three phones left to right. One sentence each. Then the IR line: 'we test whether the AC works, not whether it looks fine'. That functional-test line is the novelty claim no competitor matches; land it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1:30-3:00 is the LIVE DEMO itself; this slide is the backdrop. One presenter narrates, one drives the phone. Skip logins and setup screens. Rehearse 5+ times. Jury 'sees your demo cold at the end', so this single flow must reach its punchline (the PDF).</a:t>
            </a:r>
          </a:p>
          <a:p>
            <a:r>
              <a:t>Telemetry: HackTracker scores creative phone use (camera, mic, on-device AI) and Office Kit usage from device data, so every step deliberately exercises a sensor.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Technical-depth slide. If asked 'why nano not a bigger model': nano fits HTP memory at 6 MB INT8 and hits 30 ms; larger models do not improve mAP meaningfully on wall defects. If asked accuracy of area: pinhole model, +/-10% with ARCore depth, +/-20% with typed distance. Say 'targets' for numbers not yet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phone use. Professional tile-sounding needs a trained inspector and dedicated tools; here the phone mic replaces them. Be explicit that the spectrogram is a signal model; real spectrograms from the collected data replace it after Day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diagram, three processor lanes, like the Qualcomm Bengaluru winner GameSense (NPU = models, CPU = glue, plus the IR state machine). Point out the manifest has no INTERNET permission: that is the offline claim made verifiable in 2 seconds.</a:t>
            </a:r>
          </a:p>
          <a:p>
            <a:r>
              <a:t>If asked about the vivo Q3 co-processor: we do not target it (no public SDK); we use the Hexagon NPU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'Device Performance / Phone-first thinking' answer. Name the exact hardware and the exact job; generic 'we used the NPU' scores nothing. Specs verified against iQOO product page, GSMArena and 91mobiles.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Office Kit usage is 10% of the score and measured by telemetry (HackTracker), not by the pitch. So Office Kit must be used visibly and often: mirror, file transfer, remote control. Every model has a fallback so the demo never stalls; 'a well-built simple product beats a broken complex one' is the organiser's own motto.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Novelty slide. Say the narrow, defensible claim exactly as written. If a judge names zInspector or RentCheck, agree they have AI, then point to the two empty columns: offline and functional testing. Prices from vendor pages as of Aug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punish decks that overclaim; JetBrains judges: 'be very direct about what works, what doesn't'. This slide is the credibility anchor. Everything in column 1 is in the GitHub repo today (app/src/main/java/com/smartlease/edge). Column 2 items move left as they land; update this slide the night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sizing if asked: India's paid inspection-tool market is nascent; NoBroker is the only major domestic player. Distribution and trust are the bottleneck, not the tech. Say that plainly; it reads as market awareness. Business model: free for consumers, B2B2C licensing is the revenue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are the published iQOO 2026 rubric (Reskilll/iQOO portal): 30/20/15/15/10/10, with 25% (phone use + Office Kit) measured from HackTracker device telemetry. Fill in names. If the team is mixed student/professional, note that buckets cannot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4:30-5:00. Slow down. One line: 'Let us in the room. The models are trained; the 30 hours are for integration and polish.'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slide. Do not present; open only when a question comes. Answers mirror the battle plan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statistic on the deck traces to one of these. If a judge challenges a number, name the source. Never use a number that is not on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42B"/>
            </a:gs>
            <a:gs pos="100000">
              <a:srgbClr val="2D1A63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IQOO HACKATHON 2026  ·  SMART LIVING TRACK  ·  CHENNAI CITY BATTLE  ·  SEP 12–13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69494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FFFFFF"/>
                </a:solidFill>
                <a:latin typeface="Segoe UI"/>
              </a:rPr>
              <a:t>SmartLease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40280"/>
            <a:ext cx="6949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1EEFA"/>
                </a:solidFill>
                <a:latin typeface="Segoe UI"/>
              </a:rPr>
              <a:t>Your phone is the property inspector.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6675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A9A6C2"/>
                </a:solidFill>
                <a:latin typeface="Segoe UI"/>
              </a:rPr>
              <a:t>Camera, microphone and IR blaster feed three on-device models on the iQOO 15 Hexagon NPU. Sixty seconds later, tenant and landlord hold one signed, tamper-evident move-out report. No internet at any step.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426464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42646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100% OFFLINE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76272" y="4114800"/>
            <a:ext cx="2386584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6272" y="4114800"/>
            <a:ext cx="23865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ON-DEVICE LLAMA 3.2 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72583" y="4114800"/>
            <a:ext cx="2578608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3" y="4114800"/>
            <a:ext cx="2578608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SNAPDRAGON 8 ELITE GEN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3542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35424"/>
            <a:ext cx="12344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SIGNED 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1EEFA"/>
                </a:solidFill>
                <a:latin typeface="Segoe UI"/>
              </a:rPr>
              <a:t>TEAM  [Team name]  ·  [Member 1]  ·  [Member 2]  ·  [Member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A9A6C2"/>
                </a:solidFill>
                <a:latin typeface="Segoe UI"/>
              </a:rPr>
              <a:t>[Student / Professional bucket]  ·  github.com/muhammedsayeedurrahman/smartlease-edge-chennai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960120"/>
            <a:ext cx="1874519" cy="3890772"/>
          </a:xfrm>
          <a:prstGeom prst="roundRect">
            <a:avLst>
              <a:gd name="adj" fmla="val 21951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reen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1033272"/>
            <a:ext cx="1728216" cy="3744468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8709660" y="108813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29800" y="1691640"/>
            <a:ext cx="1874519" cy="3890772"/>
          </a:xfrm>
          <a:prstGeom prst="roundRect">
            <a:avLst>
              <a:gd name="adj" fmla="val 21951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creen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952" y="1764792"/>
            <a:ext cx="1728216" cy="3744468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10721340" y="181965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608076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8D8AAB"/>
                </a:solidFill>
                <a:latin typeface="Segoe UI"/>
              </a:rPr>
              <a:t>Target UI · app build in progress (Days 6–10)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rack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Move-out day in India is a memory contest, with up to ten months' rent at stake.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02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2743200" cy="86868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A623"/>
                </a:solidFill>
                <a:latin typeface="Segoe UI"/>
              </a:rPr>
              <a:t>6–10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9191"/>
            <a:ext cx="274320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A9A6C2"/>
                </a:solidFill>
                <a:latin typeface="Segoe UI"/>
              </a:rPr>
              <a:t>rent held as deposit in Bengaluru, versus the 2-month cap the Model Tenancy Act 2021 recommends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D8AAB"/>
                </a:solidFill>
                <a:latin typeface="Segoe UI"/>
              </a:rPr>
              <a:t>PRS India; Mittiyo, Werentt (Karnataka deposit guides)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783080"/>
            <a:ext cx="2743200" cy="86868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A623"/>
                </a:solidFill>
                <a:latin typeface="Segoe UI"/>
              </a:rPr>
              <a:t>&gt;40%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679191"/>
            <a:ext cx="274320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A9A6C2"/>
                </a:solidFill>
                <a:latin typeface="Segoe UI"/>
              </a:rPr>
              <a:t>of landlord–tenant disputes in India are about the security deposit (industry estimate)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50215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D8AAB"/>
                </a:solidFill>
                <a:latin typeface="Segoe UI"/>
              </a:rPr>
              <a:t>99acres; RentConnect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2834640" cy="86868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A623"/>
                </a:solidFill>
                <a:latin typeface="Segoe UI"/>
              </a:rPr>
              <a:t>₹1,649–5,999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9191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A9A6C2"/>
                </a:solidFill>
                <a:latin typeface="Segoe UI"/>
              </a:rPr>
              <a:t>for a human NoBroker inspection, booked days ahead. Most tenants never get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502152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D8AAB"/>
                </a:solidFill>
                <a:latin typeface="Segoe UI"/>
              </a:rPr>
              <a:t>NoBroker property-inspection pricing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1783080"/>
            <a:ext cx="2423160" cy="2377440"/>
          </a:xfrm>
          <a:prstGeom prst="roundRect">
            <a:avLst>
              <a:gd name="adj" fmla="val 5384"/>
            </a:avLst>
          </a:prstGeom>
          <a:solidFill>
            <a:srgbClr val="1E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81160" y="1892807"/>
            <a:ext cx="54864" cy="215798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1911095"/>
            <a:ext cx="201167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Priya, Anna Nagar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2368296"/>
            <a:ext cx="2011680" cy="17922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Moved in with 12 WhatsApp photos. Moves out to hear 'that crack is new'. ₹90,000 deposit, no neutral referee, no timestamp.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26280"/>
            <a:ext cx="11183112" cy="1417320"/>
          </a:xfrm>
          <a:prstGeom prst="roundRect">
            <a:avLst>
              <a:gd name="adj" fmla="val 9032"/>
            </a:avLst>
          </a:prstGeom>
          <a:solidFill>
            <a:srgbClr val="1E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636008"/>
            <a:ext cx="64008" cy="1197864"/>
          </a:xfrm>
          <a:prstGeom prst="roundRect">
            <a:avLst>
              <a:gd name="adj" fmla="val 42857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ROOT CAUSE, EVERY SOURCE AGREES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37760"/>
            <a:ext cx="107899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No timestamped move-in documentation. </a:t>
            </a:r>
            <a:r>
              <a:rPr sz="1600" b="0" i="0">
                <a:solidFill>
                  <a:srgbClr val="F1EEFA"/>
                </a:solidFill>
                <a:latin typeface="Segoe UI"/>
              </a:rPr>
              <a:t>Photos are subjective, undated and easy to dispute. A surveyor is slow and expensive. And in the empty flat where the inspection happens, there is often no Wi-Fi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WHY ON-DEVICE,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The report has to be made where the internet isn't: an empty flat, a stranger's home, in sixty seconds.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2331720"/>
          </a:xfrm>
          <a:prstGeom prst="roundRect">
            <a:avLst>
              <a:gd name="adj" fmla="val 54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f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37944"/>
            <a:ext cx="34747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1819656"/>
            <a:ext cx="28163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Offline is the use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276856"/>
            <a:ext cx="3273552" cy="174650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A9A6C2"/>
                </a:solidFill>
                <a:latin typeface="Segoe UI"/>
              </a:rPr>
              <a:t>Move-outs happen in vacated flats with the Wi-Fi cancelled. Tier-2/3 connectivity is patchy. A cloud app fails exactly when it is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691640"/>
            <a:ext cx="3611880" cy="2331720"/>
          </a:xfrm>
          <a:prstGeom prst="roundRect">
            <a:avLst>
              <a:gd name="adj" fmla="val 54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837944"/>
            <a:ext cx="347472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37759" y="1819656"/>
            <a:ext cx="28163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Private by physics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276856"/>
            <a:ext cx="3273552" cy="174650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A9A6C2"/>
                </a:solidFill>
                <a:latin typeface="Segoe UI"/>
              </a:rPr>
              <a:t>Interior photos, tenant IDs and deposit amounts never leave the handset. No account, no upload, no analytics.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91640"/>
            <a:ext cx="3611880" cy="2331720"/>
          </a:xfrm>
          <a:prstGeom prst="roundRect">
            <a:avLst>
              <a:gd name="adj" fmla="val 54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1837944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14232" y="1819656"/>
            <a:ext cx="281635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Real-time or useless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276856"/>
            <a:ext cx="3273552" cy="174650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A9A6C2"/>
                </a:solidFill>
                <a:latin typeface="Segoe UI"/>
              </a:rPr>
              <a:t>AR alignment and defect overlays update per frame. A 400 ms cloud round-trip makes the overlay swim; the NPU answers in under 30 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297680"/>
            <a:ext cx="11183112" cy="1783080"/>
          </a:xfrm>
          <a:prstGeom prst="roundRect">
            <a:avLst>
              <a:gd name="adj" fmla="val 7179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07408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WHY 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Three years ago this pipeline needed a laptop and a cloud key. On the iQOO 15 it fits in a pocket.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66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5A623"/>
                </a:solidFill>
                <a:latin typeface="Segoe UI"/>
              </a:rPr>
              <a:t>37% faster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Hexagon NPU in Snapdragon 8 Elite Gen 5 vs prior gen (Qualcomm)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166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5A623"/>
                </a:solidFill>
                <a:latin typeface="Segoe UI"/>
              </a:rPr>
              <a:t>~10 tok/s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5778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Llama 3.2 3B, W4A16, on the NPU via Qualcomm GenieX runtime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5166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5A623"/>
                </a:solidFill>
                <a:latin typeface="Segoe UI"/>
              </a:rPr>
              <a:t>&lt;30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55778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YOLOv8n-Seg INT8 per frame on the Hexagon HTP (target, ExecuTorch)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Three sensors. One signed report. Zero internet.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END PRODUCT QUALITY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30%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04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1600200" cy="3296412"/>
          </a:xfrm>
          <a:prstGeom prst="roundRect">
            <a:avLst>
              <a:gd name="adj" fmla="val 2571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73352"/>
            <a:ext cx="1453896" cy="315010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44018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6916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26080" y="1664208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5A623"/>
                </a:solidFill>
                <a:latin typeface="Segoe UI"/>
              </a:rPr>
              <a:t>VISION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148840"/>
            <a:ext cx="1920240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YOLOv8n-Seg finds cracks, stains, peeling paint and reports area in sq ft with a severity band.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06240" y="3566160"/>
            <a:ext cx="274320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1600200"/>
            <a:ext cx="1600200" cy="3296412"/>
          </a:xfrm>
          <a:prstGeom prst="roundRect">
            <a:avLst>
              <a:gd name="adj" fmla="val 2571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reen_t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1673352"/>
            <a:ext cx="1453896" cy="3150108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528066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691640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66560" y="1664208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5A623"/>
                </a:solidFill>
                <a:latin typeface="Segoe UI"/>
              </a:rPr>
              <a:t>TAP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148840"/>
            <a:ext cx="1920240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Knuckle-tap a tile. A 150 ms transient is classified hollow or solid by a 150 KB CNN on the NPU.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46720" y="3566160"/>
            <a:ext cx="274320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66760" y="1600200"/>
            <a:ext cx="1600200" cy="3296412"/>
          </a:xfrm>
          <a:prstGeom prst="roundRect">
            <a:avLst>
              <a:gd name="adj" fmla="val 2571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reen_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1673352"/>
            <a:ext cx="1453896" cy="3150108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912114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o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0" y="1691640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07040" y="1664208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5A623"/>
                </a:solidFill>
                <a:latin typeface="Segoe UI"/>
              </a:rPr>
              <a:t>SIGNED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148840"/>
            <a:ext cx="1920240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Llama 3.2 3B writes the findings into a plain-language PDF with cost bands, timestamp and SHA-256.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4924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504688"/>
            <a:ext cx="411480" cy="4114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34440" y="5394960"/>
            <a:ext cx="103327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Plus a functional check the camera cannot do: </a:t>
            </a:r>
            <a:r>
              <a:rPr sz="1350" b="0" i="0">
                <a:solidFill>
                  <a:srgbClr val="F1EEFA"/>
                </a:solidFill>
                <a:latin typeface="Segoe UI"/>
              </a:rPr>
              <a:t>the IR blaster fires the captured remote code at the AC, the mic confirms the compressor starts, and the report records 'works', not just 'looks fine'.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144768"/>
            <a:ext cx="54864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8D8AAB"/>
                </a:solidFill>
                <a:latin typeface="Segoe UI"/>
              </a:rPr>
              <a:t>Screens: target UI, build in progress (Days 6–10). Live demo runs the real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60-second walkthrough, in Airplane Mode, mirrored through Office Kit.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DEMO &amp; PRESENTATION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05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331720"/>
            <a:ext cx="10561320" cy="0"/>
          </a:xfrm>
          <a:prstGeom prst="line">
            <a:avLst/>
          </a:prstGeom>
          <a:ln w="2540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71600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92608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7280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Set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Open the move-in photo. AR ghost-overlay + OIS lock the same angle within 1°.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SensorManager · CameraX</a:t>
            </a:r>
          </a:p>
        </p:txBody>
      </p:sp>
      <p:sp>
        <p:nvSpPr>
          <p:cNvPr id="18" name="Oval 17"/>
          <p:cNvSpPr/>
          <p:nvPr/>
        </p:nvSpPr>
        <p:spPr>
          <a:xfrm>
            <a:off x="3630168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1488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1488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926080"/>
            <a:ext cx="365760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55848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Vision 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Point at the wall prop. Crack contour + area appear live. Severity: moderate.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NPU · YOLOv8n-Seg INT8</a:t>
            </a:r>
          </a:p>
        </p:txBody>
      </p:sp>
      <p:sp>
        <p:nvSpPr>
          <p:cNvPr id="26" name="Oval 25"/>
          <p:cNvSpPr/>
          <p:nvPr/>
        </p:nvSpPr>
        <p:spPr>
          <a:xfrm>
            <a:off x="5888736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8736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0056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0056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2926080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14416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Tap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Knuckle-tap the tile board. Ring fills: HOLLOW, 0.91. Speaker confirms with a tone.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Mic · Tap CNN · Sensing Hub</a:t>
            </a:r>
          </a:p>
        </p:txBody>
      </p:sp>
      <p:sp>
        <p:nvSpPr>
          <p:cNvPr id="34" name="Oval 33"/>
          <p:cNvSpPr/>
          <p:nvPr/>
        </p:nvSpPr>
        <p:spPr>
          <a:xfrm>
            <a:off x="8147304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78624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0:45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78624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216" y="2926080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72983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IR appliance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3216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Fire the captured code at the venue AC. Compressor starts. Logged as functional.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ConsumerIrManager 38 kHz</a:t>
            </a:r>
          </a:p>
        </p:txBody>
      </p:sp>
      <p:sp>
        <p:nvSpPr>
          <p:cNvPr id="42" name="Oval 41"/>
          <p:cNvSpPr/>
          <p:nvPr/>
        </p:nvSpPr>
        <p:spPr>
          <a:xfrm>
            <a:off x="10405872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05872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37192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1:00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37192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1784" y="2926080"/>
            <a:ext cx="365760" cy="36576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131552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Signed report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01784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Tap Generate. Llama 3.2 3B streams the narrative. PDF with SHA-256 lands in ~15 s, shared to laptop via Office Kit.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GenieX · PdfDocument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A9A6C2"/>
                </a:solidFill>
                <a:latin typeface="Segoe UI"/>
              </a:rPr>
              <a:t>Backup: a screen recording of the same flow sits on the phone in case the venue AC has no IR receiver line-of-sight.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ON-DEVICE MODEL 1: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Cracks become square feet, not opinions.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TECHNICAL DEPTH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06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00200"/>
            <a:ext cx="2011680" cy="4187952"/>
          </a:xfrm>
          <a:prstGeom prst="roundRect">
            <a:avLst>
              <a:gd name="adj" fmla="val 2045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673352"/>
            <a:ext cx="1865376" cy="404164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55448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6459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618488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YOLOv8n-Seg fine-tuned on 580+ labelled wall-defect images (Roboflow COCO-Seg auto-converted to YOLO-Seg). Classes: crack, stain, mould, peeling, hole.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578608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551176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torch.export  → PT2E quantise (QnnQuantizer 8a8w)  → ExecuTorch lower  → .pte on the Hexagon HTP. ~6 MB INT8. XNNPACK CPU fallback ships in the same APK.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511296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483864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Area = mask pixels × Z² / (fₓ·fᵧ) using the pinhole model; Z from ARCore depth (±10%) or a typed wall distance (±20%).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443984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416552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Severity bands by area and class. Confidence &lt; 0.30 hidden; 0.30–0.50 shown as 'review'. Users can dismiss a detection.</a:t>
            </a:r>
          </a:p>
        </p:txBody>
      </p:sp>
      <p:pic>
        <p:nvPicPr>
          <p:cNvPr id="20" name="Picture 19" descr="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45920"/>
            <a:ext cx="3319272" cy="15702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366760" y="3520440"/>
            <a:ext cx="3319272" cy="2514600"/>
          </a:xfrm>
          <a:prstGeom prst="roundRect">
            <a:avLst>
              <a:gd name="adj" fmla="val 50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66760" y="3630168"/>
            <a:ext cx="54864" cy="229514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3648456"/>
            <a:ext cx="290779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Honest 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105656"/>
            <a:ext cx="2907792" cy="19293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Today: deterministic heuristic segmenter runs in the app. Days 3–8: fine-tune, export, NPU test on any Snapdragon 8-series. Target metrics: 75%+ mAP on held-out wall images, &lt;30 ms per frame on HTP. Numbers on the latency chart are targets until measured.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ON-DEVICE MODEL 2: ACOUSTICS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Tap a tile. The phone hears what a surveyor's hammer would.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CREATIVE PHONE USE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07 / 17</a:t>
            </a:r>
          </a:p>
        </p:txBody>
      </p:sp>
      <p:pic>
        <p:nvPicPr>
          <p:cNvPr id="9" name="Picture 8" descr="tap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6766560" cy="3784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16459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618488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Sensing Hub keeps a low-power listener up. An RMS spike triggers a 150 ms crop at 16 kHz.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670048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642616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64-band log-Mel spectrogram (64×19). Hollow taps ring above 1.5 kHz and die in ~10 ms; solid taps sit below 1 kHz and ring longer.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694176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66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3-layer CNN, ~150 KB INT8 on the NPU (&lt;3 ms), ensembled with a Random Forest on decay time and high-frequency ratio.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718304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690872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The deterministic decay heuristic already shipping in the app classifies every tap even if the CNN is unavailable.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532120"/>
            <a:ext cx="658368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A9A6C2"/>
                </a:solidFill>
                <a:latin typeface="Segoe UI"/>
              </a:rPr>
              <a:t>Training set: 100+ own recordings (50 hollow, 50 solid) captured on the demo phone, plus Kaggle/Roboflow tap audio. Figure is an illustrative signal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76072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A9A6C2"/>
                </a:solidFill>
                <a:latin typeface="Segoe UI"/>
              </a:rPr>
              <a:t>Dual stereo speakers play a confirmation tone so a room of judges hears the verdict.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Every byte stays on the phone: sensors, NPU, on-device LLM, signed PDF.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TECHNICAL DEPTH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08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54480"/>
            <a:ext cx="27432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INPUT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Sony IMX921 50 MP + OIS · ultrawide · periscope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Stereo mics · 16 kHz PCM · Sensing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IR blaster 38 kHz · ConsumerIrManager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Rotation vector · ARCore depth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11680" y="2194560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60720" y="2194560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9509759" y="2194560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56032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670048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69848" y="26517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Segoe UI"/>
              </a:rPr>
              <a:t>HEXAGON NPU (HTP)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035808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YOLOv8n-Seg INT8 .pte via ExecuTorch, &lt;30 ms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Tap CNN INT8 .pte, 150 KB, &lt;3 ms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Llama 3.2 3B W4A16 via GenieX / QAIRT, ~10 tok/s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256032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3" y="2670048"/>
            <a:ext cx="32918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846320" y="26517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Segoe UI"/>
              </a:rPr>
              <a:t>HOST CPU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3035808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NMS · mask assembly · area from pinhole model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RMS spike  → 150 ms crop  → log-Mel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PDF render · SHA-256 · Room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256032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2670048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22792" y="26517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Segoe UI"/>
              </a:rPr>
              <a:t>IR STATE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6" y="3035808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Capture (receiver or library)  → store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Replay at 38 kHz  → verify via mic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Voltas · Blue Star · LG · Daikin fallback codes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943600" y="4315968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40" y="4645152"/>
            <a:ext cx="7406640" cy="502920"/>
          </a:xfrm>
          <a:prstGeom prst="roundRect">
            <a:avLst>
              <a:gd name="adj" fmla="val 18181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77440" y="4645152"/>
            <a:ext cx="7406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DIAGNOSTIC SYNTHESIS  ·  defect areas + tap verdicts + appliance state + OCR of meter/nameplate  →  one structured JSON record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43600" y="5193792"/>
            <a:ext cx="329184" cy="237744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77440" y="5468112"/>
            <a:ext cx="7406640" cy="658368"/>
          </a:xfrm>
          <a:prstGeom prst="roundRect">
            <a:avLst>
              <a:gd name="adj" fmla="val 13888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14600" y="5468112"/>
            <a:ext cx="7132320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14142B"/>
                </a:solidFill>
                <a:latin typeface="Segoe UI"/>
              </a:rPr>
              <a:t>OUTPUT  </a:t>
            </a:r>
            <a:r>
              <a:rPr sz="1050" b="0" i="0">
                <a:solidFill>
                  <a:srgbClr val="14142B"/>
                </a:solidFill>
                <a:latin typeface="Segoe UI"/>
              </a:rPr>
              <a:t>Signed PDF: timestamp + session ID + SHA-256 fingerprint, both parties sign on-screen, shared by Intent or Office Kit. No cloud call at any stage.</a:t>
            </a:r>
          </a:p>
        </p:txBody>
      </p:sp>
      <p:pic>
        <p:nvPicPr>
          <p:cNvPr id="36" name="Picture 35" descr="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4892040"/>
            <a:ext cx="640080" cy="6400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21240" y="5577840"/>
            <a:ext cx="1737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D64545"/>
                </a:solidFill>
                <a:latin typeface="Segoe UI"/>
              </a:rPr>
              <a:t>NO NETWORK
PERMISSION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PHONE-FIRST 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Built for the iQOO 15, not just running on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CREATIVE PHONE USE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09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310896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96265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iQOO 15 hardware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600200"/>
            <a:ext cx="283464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600200"/>
            <a:ext cx="268833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Verified spec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1600200"/>
            <a:ext cx="5239512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600200"/>
            <a:ext cx="509320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Exact job in SmartLease Edge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84248"/>
            <a:ext cx="310896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1984248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Snapdragon 8 Elite Gen 5 · Hexagon NPU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1984248"/>
            <a:ext cx="283464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1984248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37% faster NPU, INT4/INT8/FP16, Sensing Hub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84248"/>
            <a:ext cx="523951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Runs all three models: segmenter, tap CNN, Llama 3.2 3B report writer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87752"/>
            <a:ext cx="3108960" cy="713232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587752"/>
            <a:ext cx="2962656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Triple 50 MP: IMX921 OIS + ultrawide + periscope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2587752"/>
            <a:ext cx="2834640" cy="713232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5032" y="2587752"/>
            <a:ext cx="2688336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CIPA 4.5 OIS, 100× digital zoom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2587752"/>
            <a:ext cx="5239512" cy="713232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2587752"/>
            <a:ext cx="5093208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OIS steadies the AR baseline overlay; ultrawide captures a full wall; telephoto inspects hairline cracks from 3 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00984"/>
            <a:ext cx="310896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300984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IR blaster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1880" y="3300984"/>
            <a:ext cx="283464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5032" y="3300984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38 kHz carrier via ConsumerIrManager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300984"/>
            <a:ext cx="523951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9672" y="3300984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Fires the AC, geyser or TV remote code to prove the appliance works, not just looks fine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904488"/>
            <a:ext cx="310896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3904488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Stereo mics + Sensing 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80" y="3904488"/>
            <a:ext cx="283464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85032" y="3904488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Always-on, low-power audio path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904488"/>
            <a:ext cx="523951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3904488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Detects the tap transient without waking the main NPU; mic confirms the compressor starts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507992"/>
            <a:ext cx="310896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4507992"/>
            <a:ext cx="296265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6000-nit 2K LTPO display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4507992"/>
            <a:ext cx="28346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85032" y="4507992"/>
            <a:ext cx="26883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Peak brightness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4507992"/>
            <a:ext cx="523951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9672" y="4507992"/>
            <a:ext cx="509320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AR overlay stays legible in a sunlit Chennai flat at 2 pm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056632"/>
            <a:ext cx="310896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5056632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7000 mAh + 8K vapor chamber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5056632"/>
            <a:ext cx="283464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85032" y="5056632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Sustained NPU load without throttling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5056632"/>
            <a:ext cx="523951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9672" y="5056632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Twenty-room walkthrough on one charge; inference speed does not degrade mid-demo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A9A6C2"/>
                </a:solidFill>
                <a:latin typeface="Segoe UI"/>
              </a:rPr>
              <a:t>Not targeted: the vivo Q3 co-processor has no public SDK, so we say so if asked. Office Kit mirrors the phone to the projector during the pitch.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ON-DEVICE MODELS AND THE RED LIGHT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Three models, each with a fallback that still demos, and a phone-only build plan.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OFFICE KIT USAGE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10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210312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1956815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39" y="1600200"/>
            <a:ext cx="228600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9191" y="1600200"/>
            <a:ext cx="213969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600200"/>
            <a:ext cx="91440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600200"/>
            <a:ext cx="76809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1600200"/>
            <a:ext cx="219456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9592" y="1600200"/>
            <a:ext cx="2048255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Runtime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600200"/>
            <a:ext cx="109728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4152" y="1600200"/>
            <a:ext cx="95097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600200"/>
            <a:ext cx="2587752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1600200"/>
            <a:ext cx="244144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If it fails on stage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984248"/>
            <a:ext cx="210312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1984248"/>
            <a:ext cx="195681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Wall-defect segmenter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06039" y="1984248"/>
            <a:ext cx="22860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9191" y="1984248"/>
            <a:ext cx="21396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YOLOv8n-Seg, INT8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1984248"/>
            <a:ext cx="9144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5192" y="1984248"/>
            <a:ext cx="7680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~6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1984248"/>
            <a:ext cx="21945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9592" y="1984248"/>
            <a:ext cx="204825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ExecuTorch  → Hexagon HTP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1984248"/>
            <a:ext cx="10972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74152" y="1984248"/>
            <a:ext cx="9509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&lt;30 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1984248"/>
            <a:ext cx="258775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71432" y="1984248"/>
            <a:ext cx="2441448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XNNPACK CPU .pte (~180 ms); heuristic segmenter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551176"/>
            <a:ext cx="210312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2551176"/>
            <a:ext cx="195681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Tap classifier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06039" y="2551176"/>
            <a:ext cx="22860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79191" y="2551176"/>
            <a:ext cx="21396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3-layer CNN + RF, INT8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92040" y="2551176"/>
            <a:ext cx="9144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5192" y="2551176"/>
            <a:ext cx="7680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~150 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2551176"/>
            <a:ext cx="219456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79592" y="2551176"/>
            <a:ext cx="204825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ExecuTorch  → Hexagon HTP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2551176"/>
            <a:ext cx="109728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74152" y="2551176"/>
            <a:ext cx="9509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&lt;3 ms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2551176"/>
            <a:ext cx="2587752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1432" y="2551176"/>
            <a:ext cx="2441448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Decay-time heuristic already in app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18104"/>
            <a:ext cx="210312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3118104"/>
            <a:ext cx="195681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Report writer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06039" y="3118104"/>
            <a:ext cx="22860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79191" y="3118104"/>
            <a:ext cx="21396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Llama 3.2 3B Instruct, W4A16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92040" y="3118104"/>
            <a:ext cx="9144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65192" y="3118104"/>
            <a:ext cx="7680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~1.5 GB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06440" y="3118104"/>
            <a:ext cx="21945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79592" y="3118104"/>
            <a:ext cx="204825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GenieX / QAIRT on NPU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01000" y="3118104"/>
            <a:ext cx="10972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74152" y="3118104"/>
            <a:ext cx="9509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~15 s stream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3118104"/>
            <a:ext cx="258775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71432" y="3118104"/>
            <a:ext cx="2441448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Llama 3.2 1B; then rule-based template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379476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RED LIGHT / GREEN LIGHT: WHAT HAPPENS ON THE PHONE ALONE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4114800"/>
            <a:ext cx="3657600" cy="1965960"/>
          </a:xfrm>
          <a:prstGeom prst="roundRect">
            <a:avLst>
              <a:gd name="adj" fmla="val 6511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2920" y="4224528"/>
            <a:ext cx="54864" cy="174650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4242816"/>
            <a:ext cx="3246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Red Light (~10.5 h, phone only)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4700016"/>
            <a:ext cx="3246120" cy="138074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On-device data capture of venue walls and tiles · threshold tuning · NPU latency runs · IR capture of the venue AC. Driven from the laptop through Office Kit remote control and shared clipboard.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0248" y="4114800"/>
            <a:ext cx="3657600" cy="1965960"/>
          </a:xfrm>
          <a:prstGeom prst="roundRect">
            <a:avLst>
              <a:gd name="adj" fmla="val 6511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70248" y="4224528"/>
            <a:ext cx="54864" cy="174650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44568" y="4242816"/>
            <a:ext cx="3246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Green Light (~8.5 h, both devices)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44568" y="4700016"/>
            <a:ext cx="3246120" cy="138074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Model export and quantisation · Gradle builds · debugging · overnight polish. APK drag-dropped to the phone with Office Kit file transfer.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28431" y="4114800"/>
            <a:ext cx="3657600" cy="1965960"/>
          </a:xfrm>
          <a:prstGeom prst="roundRect">
            <a:avLst>
              <a:gd name="adj" fmla="val 6511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028431" y="4224528"/>
            <a:ext cx="54864" cy="17465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02752" y="4242816"/>
            <a:ext cx="324611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Office Kit in the pitch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02752" y="4700016"/>
            <a:ext cx="3246120" cy="138074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Screen mirror to the projector for the live demo · the generated PDF lands on the laptop by file transfer · clipboard sync for the session ID. Practised before Sep 12.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AI inspection apps exist. None run offline, and none test whether things actually 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11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274320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600200"/>
            <a:ext cx="137160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600200"/>
            <a:ext cx="12252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Offline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600200"/>
            <a:ext cx="173736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600200"/>
            <a:ext cx="159105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Functional test
(IR / acoustic)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79" y="1600200"/>
            <a:ext cx="155448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600200"/>
            <a:ext cx="14081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Defect area
in sq 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59" y="1600200"/>
            <a:ext cx="146304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1" y="1600200"/>
            <a:ext cx="131673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On-device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72599" y="1600200"/>
            <a:ext cx="2313432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5751" y="1600200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Price for one lease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67128"/>
            <a:ext cx="27432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167128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NoBroker inspection (India)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2167128"/>
            <a:ext cx="13716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4759" y="231343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27685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167128"/>
            <a:ext cx="17373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49240" y="231343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227685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79" y="2167128"/>
            <a:ext cx="15544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995159" y="231343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39" y="227685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59" y="2167128"/>
            <a:ext cx="146304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19" y="222199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199" y="218541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59" y="251460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human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72599" y="2167128"/>
            <a:ext cx="231343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45751" y="2167128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₹1,649–5,999 + scheduling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734056"/>
            <a:ext cx="27432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" y="2734056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TurboTenant (US)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46120" y="2734056"/>
            <a:ext cx="13716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94759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39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2734056"/>
            <a:ext cx="173736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49240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5079" y="2734056"/>
            <a:ext cx="155448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995159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39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09559" y="2734056"/>
            <a:ext cx="146304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03919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199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72599" y="2734056"/>
            <a:ext cx="2313432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45751" y="2734056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Free, manual photos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300984"/>
            <a:ext cx="27432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" y="3300984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zInspector + zAssistant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6120" y="3300984"/>
            <a:ext cx="13716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794759" y="344728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39" y="341071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17720" y="3300984"/>
            <a:ext cx="17373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349240" y="344728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03520" y="341071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79" y="3300984"/>
            <a:ext cx="15544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995159" y="344728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49439" y="341071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09559" y="3300984"/>
            <a:ext cx="146304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503919" y="335584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58199" y="33192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9559" y="3648456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cloud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72599" y="3300984"/>
            <a:ext cx="231343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45751" y="3300984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$0–115/mo per portfolio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3867912"/>
            <a:ext cx="27432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6072" y="3867912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RentCheck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46120" y="3867912"/>
            <a:ext cx="13716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794759" y="4014215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749039" y="3977639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617720" y="3867912"/>
            <a:ext cx="173736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49240" y="4014215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03520" y="3977639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55079" y="3867912"/>
            <a:ext cx="155448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995159" y="4014215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39" y="3977639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909559" y="3867912"/>
            <a:ext cx="146304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503919" y="3922776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58199" y="3886200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59" y="4215383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cloud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72599" y="3867912"/>
            <a:ext cx="2313432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45751" y="3867912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$0.60–1.10/unit/mo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4434840"/>
            <a:ext cx="27432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6072" y="4434840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ClaimSnap (insurance)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46120" y="4434840"/>
            <a:ext cx="13716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794759" y="4581144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49039" y="454456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4434840"/>
            <a:ext cx="17373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49240" y="4581144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03520" y="454456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55079" y="4434840"/>
            <a:ext cx="15544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995159" y="448970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49439" y="445312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55079" y="4782312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estimate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909559" y="4434840"/>
            <a:ext cx="146304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503919" y="4489704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58199" y="445312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09559" y="478231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cloud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72599" y="4434840"/>
            <a:ext cx="231343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445751" y="4434840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Not published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5001768"/>
            <a:ext cx="274320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6072" y="5001768"/>
            <a:ext cx="2596896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SmartLease Edge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46120" y="5001768"/>
            <a:ext cx="137160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794759" y="518464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749039" y="51480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617720" y="5001768"/>
            <a:ext cx="173736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349240" y="518464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303520" y="51480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55079" y="5001768"/>
            <a:ext cx="155448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995159" y="518464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949439" y="51480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09559" y="5001768"/>
            <a:ext cx="146304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03919" y="509320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58199" y="505663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909559" y="5385816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NPU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372599" y="5001768"/>
            <a:ext cx="2313432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445751" y="5001768"/>
            <a:ext cx="2167127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FFFFF"/>
                </a:solidFill>
                <a:latin typeface="Segoe UI"/>
              </a:rPr>
              <a:t>Free + ₹299–499 per signed report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A9A6C2"/>
                </a:solidFill>
                <a:latin typeface="Segoe UI"/>
              </a:rPr>
              <a:t>Precise novelty claim: fully offline, on-device AI with functional diagnostic testing, priced for a single lease event. Cross-checked against five real products; 'AI property inspection' alone is not new and we never claim it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WORKING MVP,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What runs today, what ships by Sep 12, and what happens live at the 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END PRODUCT QUALITY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30%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12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3611880" cy="3749039"/>
          </a:xfrm>
          <a:prstGeom prst="roundRect">
            <a:avLst>
              <a:gd name="adj" fmla="val 3544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600200"/>
            <a:ext cx="3611880" cy="457200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28800"/>
            <a:ext cx="3611880" cy="228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4142B"/>
                </a:solidFill>
                <a:latin typeface="Segoe UI"/>
              </a:rPr>
              <a:t>Real and running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9456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CameraX capture + preview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AR baseline alignment (SensorManager + OIS)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ML Kit OCR of meters and nameplates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IR transmit via ConsumerIrManager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Acoustic tap heuristic (AudioRecord + FFT)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Deterministic safety gate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Room DB + offline PDF report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00200"/>
            <a:ext cx="3611880" cy="3749039"/>
          </a:xfrm>
          <a:prstGeom prst="roundRect">
            <a:avLst>
              <a:gd name="adj" fmla="val 3544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79392" y="1600200"/>
            <a:ext cx="3611880" cy="457200"/>
          </a:xfrm>
          <a:prstGeom prst="roundRect">
            <a:avLst>
              <a:gd name="adj" fmla="val 28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828800"/>
            <a:ext cx="361188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2272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4142B"/>
                </a:solidFill>
                <a:latin typeface="Segoe UI"/>
              </a:rPr>
              <a:t>Shipping before the battle (Days 3–10)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19456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YOLOv8n-Seg fine-tune on 580+ images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ExecuTorch INT8 export, Hexagon HTP test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Tap CNN trained on own recordings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GenieX Llama 3.2 3B narrative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SHA-256 fingerprint + dual signature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Office Kit rehearsal, 3 timed runs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600200"/>
            <a:ext cx="3611880" cy="3749039"/>
          </a:xfrm>
          <a:prstGeom prst="roundRect">
            <a:avLst>
              <a:gd name="adj" fmla="val 3544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55864" y="1600200"/>
            <a:ext cx="3611880" cy="457200"/>
          </a:xfrm>
          <a:prstGeom prst="roundRect">
            <a:avLst>
              <a:gd name="adj" fmla="val 28000"/>
            </a:avLst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1828800"/>
            <a:ext cx="3611880" cy="228600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Live at the venue (Sep 12–13)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19456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08:00 capture the real AC's IR code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Round-1 vertical slice by Sat 19:00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Tune thresholds to venue light and acoustics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Overnight: fix, do not add features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Sun 09:00 airplane-mode end-to-end run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13:45 final pitch, one flow, one aha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32120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32120"/>
            <a:ext cx="10881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/>
                </a:solidFill>
                <a:latin typeface="Segoe UI"/>
              </a:rPr>
              <a:t>The two hard models are trained before the event so the 30 hours go to integration and polish, not first-time R&amp;D. If a model is not reliable by Day 8, the shipping heuristic is the deliberate fallback.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IMPACT AND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One engine, four products, priced for one lease instead of a portfolio.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46504"/>
            <a:ext cx="34747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1728216"/>
            <a:ext cx="277063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Who it serves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185415"/>
            <a:ext cx="3227832" cy="1563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A9A6C2"/>
                </a:solidFill>
                <a:latin typeface="Segoe UI"/>
              </a:rPr>
              <a:t>Tenants keep deposits with timestamped evidence. Landlords document damage before it becomes a dispute. PG and co-living operators inspect 50+ rooms a day without a surveyor. Works in Tier-2/3 cities where the cloud apps do 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6002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up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746504"/>
            <a:ext cx="347472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74336" y="1728216"/>
            <a:ext cx="277063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Priced for one move-out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185415"/>
            <a:ext cx="3227832" cy="1563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A9A6C2"/>
                </a:solidFill>
                <a:latin typeface="Segoe UI"/>
              </a:rPr>
              <a:t>Free baseline capture. ₹299–499 for the full diagnostic plus signed report, 5–10× cheaper than a ₹1,649–5,999 human inspection and available on demand. No subscription for a once-a-year event.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6002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746504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78240" y="1728216"/>
            <a:ext cx="277063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Scales without new engines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85415"/>
            <a:ext cx="3227832" cy="1563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A9A6C2"/>
                </a:solidFill>
                <a:latin typeface="Segoe UI"/>
              </a:rPr>
              <a:t>New defect class = 200 labelled images, same pipeline. New language = one LLM prompt (Tamil, Hindi). Runs on any Snapdragon 8 Gen 2+ via ExecuTorch; iQOO-exclusive parts are the IR blaster and Sensing Hub.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77639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ROADMAP: SAME VERIFICATION ENGINE, HIGHER FREQUENCY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0 · Sep 12–13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Move-Out 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The hackathon MVP. Once per lease.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218688" y="5074920"/>
            <a:ext cx="128016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3756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1 · 2–4 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Maintenance Mode + Insurance Assist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Quarterly appliance health checks; claim-ready docs with functional proof. ₹99–149/mo.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53328" y="5074920"/>
            <a:ext cx="128016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7220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2 · 4–8 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Buyer's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Self-service pre-purchase inspection at ₹499–999 vs ₹10,000+ professional.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887968" y="5074920"/>
            <a:ext cx="128016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00684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3 · 6–12 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B2B2C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Per-unit licences for co-living operators and property managers; rental platforms embed the engine.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TEAM AND SCORING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Three people, zero overlap, and a plan for each of the six judged criteria.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4572000" cy="1325880"/>
          </a:xfrm>
          <a:prstGeom prst="roundRect">
            <a:avLst>
              <a:gd name="adj" fmla="val 9655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874519"/>
            <a:ext cx="777240" cy="7772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4142B"/>
                </a:solidFill>
                <a:latin typeface="Segoe UI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3736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[Member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39112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AI / NPU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31720"/>
            <a:ext cx="32918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Trains and exports both models, ExecuTorch INT8, GenieX integration. Event day: integrate, tune to 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081528"/>
            <a:ext cx="4572000" cy="1325880"/>
          </a:xfrm>
          <a:prstGeom prst="roundRect">
            <a:avLst>
              <a:gd name="adj" fmla="val 9655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3355848"/>
            <a:ext cx="777240" cy="7772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55848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4142B"/>
                </a:solidFill>
                <a:latin typeface="Segoe UI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1868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[Member 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2044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ANDROID / HARDWARE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813048"/>
            <a:ext cx="32918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CameraX, AR overlay, AudioRecord, IR capture and replay, Office Kit Red Light sessions.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62856"/>
            <a:ext cx="4572000" cy="1325880"/>
          </a:xfrm>
          <a:prstGeom prst="roundRect">
            <a:avLst>
              <a:gd name="adj" fmla="val 9655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4837176"/>
            <a:ext cx="777240" cy="7772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837176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4142B"/>
                </a:solidFill>
                <a:latin typeface="Segoe UI"/>
              </a:rPr>
              <a:t>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7000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[Member 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001768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PRODUCT / DEMO PITCHER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294376"/>
            <a:ext cx="32918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Report UI, pricing logic, sourced citations, pitch script, judge Q&amp;A.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1600200"/>
            <a:ext cx="182880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6672" y="1600200"/>
            <a:ext cx="168249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Criterion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600200"/>
            <a:ext cx="86868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5472" y="1600200"/>
            <a:ext cx="722375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Weight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1600200"/>
            <a:ext cx="3685032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74152" y="1600200"/>
            <a:ext cx="353872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How SmartLease Edge scores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1984248"/>
            <a:ext cx="182880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6672" y="1984248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End product quality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0" y="1984248"/>
            <a:ext cx="86868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1984248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30%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1984248"/>
            <a:ext cx="368503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74152" y="1984248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One complete flow: baseline  →  scan  →  tap  →  IR  →  signed PDF. Fallback for every model.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0" y="2587752"/>
            <a:ext cx="182880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76672" y="2587752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Novelty and impact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2587752"/>
            <a:ext cx="86868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05472" y="2587752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20%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2587752"/>
            <a:ext cx="368503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74152" y="2587752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Offline + functional testing; no competitor has either. Deposit disputes affect every renter.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0" y="3191256"/>
            <a:ext cx="182880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76672" y="3191256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Creative phone use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191256"/>
            <a:ext cx="86868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05472" y="3191256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1000" y="3191256"/>
            <a:ext cx="368503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74152" y="3191256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Camera, mic, IR blaster, Sensing Hub and NPU all exercised in the demo (telemetry-visible).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0" y="3794760"/>
            <a:ext cx="182880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6672" y="3794760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Technical depth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32320" y="3794760"/>
            <a:ext cx="86868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05472" y="3794760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01000" y="3794760"/>
            <a:ext cx="368503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74152" y="3794760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INT8 ExecuTorch on HTP, W4A16 Llama via GenieX, pinhole area math, published latencies.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03520" y="4398264"/>
            <a:ext cx="182880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76672" y="4398264"/>
            <a:ext cx="168249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Office Kit usage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32320" y="4398264"/>
            <a:ext cx="86868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05472" y="4398264"/>
            <a:ext cx="72237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01000" y="4398264"/>
            <a:ext cx="368503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74152" y="4398264"/>
            <a:ext cx="353872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Mirror, file transfer and remote control used through Red Light and in the pitch.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03520" y="4946904"/>
            <a:ext cx="182880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76672" y="4946904"/>
            <a:ext cx="168249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Demo and presentation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4946904"/>
            <a:ext cx="86868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05472" y="4946904"/>
            <a:ext cx="72237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01000" y="4946904"/>
            <a:ext cx="368503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74152" y="4946904"/>
            <a:ext cx="353872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3-minute script, one presenter + one driver, rehearsed 5×, recorded backup.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D1A63"/>
            </a:gs>
            <a:gs pos="100000">
              <a:srgbClr val="14142B"/>
            </a:gs>
          </a:gsLst>
          <a:lin scaled="0" ang="8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SMARTLEASE EDGE  ·  IQOO HACKATHON 2026  ·  CHENNAI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Segoe UI"/>
              </a:rPr>
              <a:t>Every Indian renter deserves a fair move-out.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9718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9352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Working Android app in the repo today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4290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924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Multi-modal: vision + acoustics + IR + on-device LLM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8862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496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Built for iQOO 15 hardware, feature by feature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3434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068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100% offline, no network permission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8006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640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548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Tamper-evident, signed PDF both parties keep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78638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We are not pitching an idea. We are showing you a working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A9A6C2"/>
                </a:solidFill>
                <a:latin typeface="Segoe UI"/>
              </a:rPr>
              <a:t>github.com/muhammedsayeedurrahman/smartlease-edge-chennai  ·  [email]  ·  Demo: live on the iQOO 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005840"/>
            <a:ext cx="2103120" cy="4386071"/>
          </a:xfrm>
          <a:prstGeom prst="roundRect">
            <a:avLst>
              <a:gd name="adj" fmla="val 19565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creen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2" y="1078992"/>
            <a:ext cx="1956815" cy="4239767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84080" y="113385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Judge Q&amp;A: the answers we have ready.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16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291840" cy="365760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600200"/>
            <a:ext cx="3145536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Likely 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1600200"/>
            <a:ext cx="7891272" cy="365760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67912" y="1600200"/>
            <a:ext cx="7744968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Answer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65960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96596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What if the model detects a false positive?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965960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2" y="196596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Confidence below 0.30 is hidden, 0.30–0.50 is marked 'review', and the user can dismiss any detection. The report shows confidence per item.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5146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How accurate is the area measurement?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4760" y="2514600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7912" y="251460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Pinhole model: area = pixels × Z²/(fx·fy). About ±10% with ARCore depth, ±20% with a typed distance. Good enough for severity bands, stated as such.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063240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306324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Does it work on other phones?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94760" y="3063240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67912" y="306324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Any Snapdragon 8 Gen 2+ via ExecuTorch. The IR blaster and Sensing Hub paths are iQOO/vivo-specific and degrade gracefully.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11880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1188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Privacy?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94760" y="3611880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67912" y="361188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No INTERNET permission in the manifest. No account, no analytics. The PDF is the only artefact and the user chooses where it goes.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60520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416052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 not ChatGPT plus a photo?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94760" y="4160520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67912" y="416052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It cannot measure area, cannot hear a hollow tile, cannot fire an IR code, cannot sign a PDF, and needs internet in a flat that has none.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09159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4709159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 YOLOv8 nano?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94760" y="4709159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7912" y="4709159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6 MB INT8 fits HTP memory and runs in ~30 ms; larger models exceed the budget without a meaningful mAP gain on wall defects.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257799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5257799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What is trained versus built live?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5257799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67912" y="5257799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Both models and the export path are done before Sep 12. Live: real AC IR capture, venue threshold tuning, integration polish. We say this plainly.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806439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5806439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Business model?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94760" y="5806439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67912" y="5806439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Free for consumers; ₹299–499 per signed report; B2B2C licensing to co-living operators and rental platforms is the revenue anchor.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Sources behind every number on these slides.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Model Tenancy Act 2021: 2-month residential deposit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prsindia.org/billtrack/the-model-tenancy-act-2021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029967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048256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Bengaluru deposits 6–10 months, market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048256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blogs.mittiyo.com · werentt.com (Karnataka deposit guides)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2920" y="2478024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2496312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Deposit issues &gt;40% of landlord–tenant disputes (industry estimate)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96312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99acres.com/articles/what-are-security-deposits.html · rentconnect.in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2926080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2944368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NoBroker inspection ₹1,649–5,999; zInspector, RentCheck, TurboTenant 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44368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Vendor pages, Aug 2026 (see SmartLease-Edge-Chennai-Battle-Plan.pdf, section 2)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3374135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2920" y="3392424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iQOO 15 specs: Snapdragon 8 Elite Gen 5, IMX921 OIS, 7000 mAh, 6000 nits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92424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gsmarena.com · 91mobiles.com · iqoo.com/in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822191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840480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Hexagon NPU 37% faster; INT4/INT8/FP16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840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Qualcomm Snapdragon 8 Elite Gen 5 product brief (PDF)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4270248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4288536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Llama 3.2 3B ~10 tok/s W4A16 via Genie on Snapdragon 8 Elite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288536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aihub.qualcomm.com (Llama-v3.2-3B-Instruct) · grapeup.com benchmark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4718303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736592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iQOO Hackathon 2026 rubric, Red/Green Light, Office Kit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36592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iqoo.reskilll.com · reskilll.com/blogs (iQOO City Battles, strategy guide)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5166359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5184648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ExecuTorch Qualcomm backend, PT2E quantisation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184648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pytorch.org/executorch · Qualcomm AI Hub docs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5614416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02920" y="5632704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Photos: cracked wall (CC0), peeling paint (CC BY-SA 4.0)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632704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Wikimedia Commons; attribution in ATTRIBUTION.json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2920" y="6062472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