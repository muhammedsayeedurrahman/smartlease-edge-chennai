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15s. 'Every fraud team, investigating officer and editor now has to answer the same question about a file: is this real? We built the tool that answers it with evidence.' Name yourselves, department, year. Straight 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Numbers first, all Indian. Then the chart: people are confident and wrong. Land on: this is a booked loss line and a policing problem,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Two dated Indian mandates, one enforcement number, one export line. This is the slide that answers 'why will anyone pay'.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Walk the diagram left to right. 'Others return fake/real. We return a score, a heat-map and a breakdown.' Do not name every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90s. DEMO. Upload a known fake. Read the score. Heat-map: say where it lit up and why. Per-model table: 'five of seven agree, frequency strongest'. Complaint document: one click. 'About four seconds on a laptop CPU.'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40s. 'One EfficientNet-B4 backbone shared across five heads — texture, frequency via FFT on mid-level features, a Laplacian artifact head, and two heads distilled from ViT and DINO — attention fusion, learnable temperature.' Five times faster, on CPU. Patent with CIPR.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Read the good rows, then read the bad rows out loud yourself. 'Those last three rows are what the eight lakh is for.' If asked how the numbers were produced: training/eval_corefakenet.py; 251 automated tests; the two spot-check JSONs are in docs/pitch/assets.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Explain why this wedge and not consumers. Describe the pilot in one breath. Say 'hypothesis' about the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35s. Name pi-labs first — the committee will know them. Say the narrow claim. One market line, no TAM theatre.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20s. Four streams, all in rupees, all labelled hypothesis. Unit cost is the one number to say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Point to each tile. This slide is why it should be CIIC and not any incubator. Do not read the tiles; say the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45s. Walk the table in rupees. Say the source sentence exactly: 'we are not asking CIIC's balance sheet'. Then the five outcomes. Then the month strip in one breath.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30s. 'We've built the hard part. We're asking CIIC to help us prove it.' Then the next-step sentence: a committee slot and the scheme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Show only if asked 'what is actually built'.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Appendix. Hand over when a figure is questioned.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126591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64592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200" b="1">
                <a:solidFill>
                  <a:srgbClr val="FFF6ED"/>
                </a:solidFill>
                <a:latin typeface="Segoe UI"/>
              </a:rPr>
              <a:t>ProofyX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127248"/>
            <a:ext cx="6126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1000"/>
              </a:spcAft>
            </a:pPr>
            <a:r>
              <a:rPr sz="3000" b="1">
                <a:solidFill>
                  <a:srgbClr val="4FD1C5"/>
                </a:solidFill>
                <a:latin typeface="Segoe UI"/>
              </a:rPr>
              <a:t>Is this real?</a:t>
            </a:r>
          </a:p>
          <a:p>
            <a:pPr algn="l">
              <a:lnSpc>
                <a:spcPct val="134000"/>
              </a:lnSpc>
              <a:spcAft>
                <a:spcPts val="1000"/>
              </a:spcAft>
            </a:pPr>
            <a:r>
              <a:rPr sz="1700" b="0">
                <a:solidFill>
                  <a:srgbClr val="FFF6ED"/>
                </a:solidFill>
                <a:latin typeface="Segoe UI"/>
              </a:rPr>
              <a:t>Explainable media forensics for fraud teams and investigators. It tells you whether an image, video or voice is AI-generated or tampered — and shows you the evidence.</a:t>
            </a:r>
          </a:p>
          <a:p>
            <a:pPr algn="l">
              <a:lnSpc>
                <a:spcPct val="134000"/>
              </a:lnSpc>
              <a:spcAft>
                <a:spcPts val="1000"/>
              </a:spcAft>
            </a:pPr>
            <a:r>
              <a:rPr sz="1300" b="0">
                <a:solidFill>
                  <a:srgbClr val="A79EC4"/>
                </a:solidFill>
                <a:latin typeface="Segoe UI"/>
              </a:rPr>
              <a:t>Built at B.S. Abdur Rahman Crescent Institute of Science &amp; Technology</a:t>
            </a:r>
          </a:p>
        </p:txBody>
      </p:sp>
      <p:pic>
        <p:nvPicPr>
          <p:cNvPr id="8" name="Picture 7" descr="pr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520440"/>
            <a:ext cx="5532120" cy="25073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5961888"/>
            <a:ext cx="233172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FFF6ED"/>
                </a:solidFill>
                <a:latin typeface="Segoe UI"/>
              </a:rPr>
              <a:t>CIIC incubation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5961888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6ED"/>
          </a:solidFill>
          <a:ln w="12700">
            <a:solidFill>
              <a:srgbClr val="FFF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0E042D"/>
                </a:solidFill>
                <a:latin typeface="Segoe UI"/>
              </a:rPr>
              <a:t>₹8 lakh · 6 months · 5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01 /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In India, the deepfake</a:t>
            </a:r>
            <a:r>
              <a:rPr sz="4000" b="1">
                <a:solidFill>
                  <a:srgbClr val="4FD1C5"/>
                </a:solidFill>
                <a:latin typeface="Segoe UI"/>
              </a:rPr>
              <a:t> is now a fraud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People cannot tell what is real — and regulators are now asking them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04288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2304288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FF4D9D"/>
                </a:solidFill>
                <a:latin typeface="Segoe UI"/>
              </a:rPr>
              <a:t>₹22,495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304288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Lost to cyber fraud in India in 2025 —
28.15 lakh complaints, up 24% (I4C / MHA)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56432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3456432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FF4D9D"/>
                </a:solidFill>
                <a:latin typeface="Segoe UI"/>
              </a:rPr>
              <a:t>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3456432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Of Indians have been a victim of, or know a
victim of, an AI voice-cloning scam (McAfee)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08576"/>
            <a:ext cx="5532120" cy="1042415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4608576"/>
            <a:ext cx="1572768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FFB020"/>
                </a:solidFill>
                <a:latin typeface="Segoe UI"/>
              </a:rPr>
              <a:t>1 Sept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4608576"/>
            <a:ext cx="3557016" cy="10424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TN Cyber Crime Wing registers a CBCID case
over a deepfake video of the Chief Minister</a:t>
            </a:r>
          </a:p>
        </p:txBody>
      </p:sp>
      <p:pic>
        <p:nvPicPr>
          <p:cNvPr id="19" name="Picture 18" descr="fig_detectio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48633"/>
            <a:ext cx="5257800" cy="235509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5080" y="5358384"/>
            <a:ext cx="5257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iProov tested 2,000 UK and US consumers on real and fake media. Six in ten backed themselves; one in a thousand got every item right.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70448"/>
            <a:ext cx="5532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65% of Indian organisations have already experienced a deepfake-driven attack (Thales,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218084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02 / WHY NOW, WHY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Detection is now</a:t>
            </a:r>
            <a:r>
              <a:rPr sz="4000" b="1">
                <a:solidFill>
                  <a:srgbClr val="4FD1C5"/>
                </a:solidFill>
                <a:latin typeface="Segoe UI"/>
              </a:rPr>
              <a:t> a compliance duty.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The buyer no longer needs convincing that the problem exists. A regulator told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MEITY · IT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124379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IT Amendment Rules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01567"/>
            <a:ext cx="2124379" cy="14904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In force 20 Feb 2026. Synthetically generated information must be clearly labelled; platforms carry verification and takedown duties.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23995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C9F0"/>
                </a:solidFill>
                <a:latin typeface="Segoe UI"/>
              </a:rPr>
              <a:t>RBI · KYC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995" y="2761488"/>
            <a:ext cx="2124379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KYC amendment, 14 Aug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995" y="3401567"/>
            <a:ext cx="2124379" cy="14904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Video-KYC (V-CIP) must actively detect AI-generated faces, replays and masks — basic liveness prompts are no longer enough.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3319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FD1C5"/>
                </a:solidFill>
                <a:latin typeface="Segoe UI"/>
              </a:rPr>
              <a:t>MHA · I4C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761488"/>
            <a:ext cx="2124379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27.3 lakh mule accounts flagged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401567"/>
            <a:ext cx="2124379" cy="14904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Layer-1 mule accounts identified by January 2026. Every one passed a KYC check. RBI's MuleHunter.AI is live across 26 banks.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4899" y="2286000"/>
            <a:ext cx="2599867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62643" y="2468880"/>
            <a:ext cx="21243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FFB020"/>
                </a:solidFill>
                <a:latin typeface="Segoe UI"/>
              </a:rPr>
              <a:t>EXPORT TAILWIND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643" y="2761488"/>
            <a:ext cx="2124379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6ED"/>
                </a:solidFill>
                <a:latin typeface="Segoe UI"/>
              </a:rPr>
              <a:t>EU AI Act, Article 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643" y="3401567"/>
            <a:ext cx="2124379" cy="14904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50" b="0">
                <a:solidFill>
                  <a:srgbClr val="A79EC4"/>
                </a:solidFill>
                <a:latin typeface="Segoe UI"/>
              </a:rPr>
              <a:t>From 2 Aug 2026 AI-generated content must be machine-detectable — the same capability, sold abroad later.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03520"/>
            <a:ext cx="11057839" cy="7863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778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1248" y="5504688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Banks, NBFCs and investigators now have to answer 'is this real?' as a matter of compliance — and most of them have no tool for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31216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03 /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One score, and</a:t>
            </a:r>
            <a:r>
              <a:rPr sz="4000" b="1">
                <a:solidFill>
                  <a:srgbClr val="4FD1C5"/>
                </a:solidFill>
                <a:latin typeface="Segoe UI"/>
              </a:rPr>
              <a:t> the reason behind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Image, video or audio in. A calibrated trust score, a heat-map and a per-model breakdown out — the thing a compliance officer can put in a file.</a:t>
            </a:r>
          </a:p>
        </p:txBody>
      </p:sp>
      <p:pic>
        <p:nvPicPr>
          <p:cNvPr id="10" name="Picture 9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00" y="2212848"/>
            <a:ext cx="6033494" cy="2788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5138928"/>
            <a:ext cx="3515258" cy="10972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5285232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D1C5"/>
                </a:solidFill>
                <a:latin typeface="Segoe UI"/>
              </a:rPr>
              <a:t>EVIDENCE, NOT A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559552"/>
            <a:ext cx="307634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Grad-CAM shows where; every model reports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5138928"/>
            <a:ext cx="3515258" cy="10972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7674" y="5285232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C9F0"/>
                </a:solidFill>
                <a:latin typeface="Segoe UI"/>
              </a:rPr>
              <a:t>INDIA-FIRST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7674" y="5559552"/>
            <a:ext cx="307634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Aadhaar / PAN / Voter-ID checks, cybercrime.gov.in-format complaint document, IT-Rules traceability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9508" y="5138928"/>
            <a:ext cx="3515258" cy="109728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8964" y="5285232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DEPLOYABLE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5559552"/>
            <a:ext cx="307634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Runs on CPU; on-prem path for banks and police who cannot send evidence to a foreign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39903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04 /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Upload. Score.</a:t>
            </a:r>
            <a:r>
              <a:rPr sz="4000" b="1">
                <a:solidFill>
                  <a:srgbClr val="4FD1C5"/>
                </a:solidFill>
                <a:latin typeface="Segoe UI"/>
              </a:rPr>
              <a:t> Explain.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Live build, laptop CPU, no GPU — about 5–6 s per image end to end. One flow: a known fake in, evidence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31136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13232" y="2386584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340864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31720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Drag in a file, or POST to /api/v1. JPG PNG WebP · MP4 MOV MKV · WAV MP3 FLAC.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035808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13232" y="3191256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145536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136392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The model bank scores in parallel; learned fusion reconciles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40480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13232" y="3995928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95020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941064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Trust score 0–100, Grad-CAM heat-map, per-model scores, EXIF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45152"/>
            <a:ext cx="5303520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13232" y="4800600"/>
            <a:ext cx="402336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5DDDD9"/>
              </a:gs>
              <a:gs pos="100000">
                <a:srgbClr val="4FD1C5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0E042D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4754880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6ED"/>
                </a:solidFill>
                <a:latin typeface="Segoe UI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745736"/>
            <a:ext cx="32918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Verdict + confidence band, and a cybercrime.gov.in-format complaint document.</a:t>
            </a:r>
          </a:p>
        </p:txBody>
      </p:sp>
      <p:pic>
        <p:nvPicPr>
          <p:cNvPr id="26" name="Picture 25" descr="real_gradcam_indo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252748"/>
            <a:ext cx="5532120" cy="302001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089904" y="2231136"/>
            <a:ext cx="5532120" cy="3063240"/>
          </a:xfrm>
          <a:prstGeom prst="roundRect">
            <a:avLst>
              <a:gd name="adj" fmla="val 6000"/>
            </a:avLst>
          </a:prstGeom>
          <a:noFill/>
          <a:ln w="1778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89904" y="5376672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Real output from the current build — a known deepfake portrait, ensemble verdict AI-GENERATED at risk 0.65, 3/7 models detect manipulation, 25.0 s on a laptop CPU.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577840"/>
            <a:ext cx="1541678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4D9D"/>
                </a:solidFill>
                <a:latin typeface="Segoe UI"/>
              </a:rPr>
              <a:t>AI-GENERATED ≥ 0.60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00046" y="5577840"/>
            <a:ext cx="1338681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4FD1C5"/>
                </a:solidFill>
                <a:latin typeface="Segoe UI"/>
              </a:rPr>
              <a:t>AUTHENTIC &lt; 0.60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0167" y="5577840"/>
            <a:ext cx="2083003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FFB020"/>
                </a:solidFill>
                <a:latin typeface="Segoe UI"/>
              </a:rPr>
              <a:t>CONFIDENCE HIGH / MED / 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0533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Verdict plus a separate confidence band, so a 0.55 never reads like a 0.95.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4859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05 /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One backbone,</a:t>
            </a:r>
            <a:r>
              <a:rPr sz="4000" b="1">
                <a:solidFill>
                  <a:srgbClr val="4FD1C5"/>
                </a:solidFill>
                <a:latin typeface="Segoe UI"/>
              </a:rPr>
              <a:t> five forensic heads.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A seven-model ensemble is accurate but slow. We trained a single multi-head network to replace it — and we intend to patent the fusion design.</a:t>
            </a:r>
          </a:p>
        </p:txBody>
      </p:sp>
      <p:pic>
        <p:nvPicPr>
          <p:cNvPr id="10" name="Picture 9" descr="fig_corefakenet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815" y="2176272"/>
            <a:ext cx="6518064" cy="2743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5074920"/>
            <a:ext cx="2599867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" y="5221224"/>
            <a:ext cx="2160955" cy="44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8B6CFF"/>
                </a:solidFill>
                <a:latin typeface="Segoe UI"/>
              </a:rPr>
              <a:t>19.4M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666994"/>
            <a:ext cx="2160955" cy="4137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parameters, whole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5074920"/>
            <a:ext cx="2599867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05707" y="5221224"/>
            <a:ext cx="2160955" cy="44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4FD1C5"/>
                </a:solidFill>
                <a:latin typeface="Segoe UI"/>
              </a:rPr>
              <a:t>564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5666994"/>
            <a:ext cx="2160955" cy="4137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model forward on CPU;
~5–6 s end to 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5074920"/>
            <a:ext cx="2599867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5031" y="5221224"/>
            <a:ext cx="2160955" cy="44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4FD1C5"/>
                </a:solidFill>
                <a:latin typeface="Segoe UI"/>
              </a:rPr>
              <a:t>4.9×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5666994"/>
            <a:ext cx="2160955" cy="4137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vs the 7-model ensemble
(2,759 → 564 ms forward)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4899" y="5074920"/>
            <a:ext cx="2599867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44355" y="5221224"/>
            <a:ext cx="2160955" cy="445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FB020"/>
                </a:solidFill>
                <a:latin typeface="Segoe UI"/>
              </a:rPr>
              <a:t>Month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355" y="5666994"/>
            <a:ext cx="2160955" cy="4137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provisional patent on the fusion
design, via CIIC's IP cell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48590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06 /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What is measured,</a:t>
            </a:r>
            <a:r>
              <a:rPr sz="4000" b="1">
                <a:solidFill>
                  <a:srgbClr val="4FD1C5"/>
                </a:solidFill>
                <a:latin typeface="Segoe UI"/>
              </a:rPr>
              <a:t> and what is 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We label targets as targets. The amber and magenta rows are what ₹8 lakh is for.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57984"/>
            <a:ext cx="78638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>
                <a:solidFill>
                  <a:srgbClr val="4FD1C5"/>
                </a:solidFill>
                <a:latin typeface="Segoe UI"/>
              </a:rPr>
              <a:t>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" y="2157984"/>
            <a:ext cx="78638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>
                <a:solidFill>
                  <a:srgbClr val="4CC9F0"/>
                </a:solidFill>
                <a:latin typeface="Segoe UI"/>
              </a:rPr>
              <a:t>UPSTREAM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22576" y="2157984"/>
            <a:ext cx="64922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>
                <a:solidFill>
                  <a:srgbClr val="FFB020"/>
                </a:solidFill>
                <a:latin typeface="Segoe UI"/>
              </a:rPr>
              <a:t>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157984"/>
            <a:ext cx="44348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>
                <a:solidFill>
                  <a:srgbClr val="FF4D9D"/>
                </a:solidFill>
                <a:latin typeface="Segoe UI"/>
              </a:rPr>
              <a:t>GAP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2523744"/>
          <a:ext cx="690372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960120"/>
                <a:gridCol w="27889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Scope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CorefakeNet image model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FD1C5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82.5% acc · 90.9% ROC-AUC · F1 81.3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332 held-out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Latency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FD1C5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564 ms model forward on CPU; ~5–6 s end to end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Benchmark run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Video pipeline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FD1C5"/>
                          </a:solidFill>
                          <a:latin typeface="Segoe UI"/>
                        </a:rPr>
                        <a:t>Verified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End to end at 1 / 2 / 10 / 20 fps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Live build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Audio (Wav2Vec2)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CC9F0"/>
                          </a:solidFill>
                          <a:latin typeface="Segoe UI"/>
                        </a:rPr>
                        <a:t>Upstream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97.9% is the model card, not ours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Own eval month 3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7-model ensemble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B020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95%+ — calibration bug found; fix month 1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Not claimable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In-domain spot check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FD1C5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62% on 40 portrait samples at the 0.60 threshold (7/20 fakes caught, 2 false alarms)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This week, fast mode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Out-of-domain (OpenFake)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4D9D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46% on 24 illustration/scene samples — generalisation is the gap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Benchmark month 3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Adversarial robustness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B020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JPEG / resize / blur sweep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Month 2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Paying customers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4D9D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Zero — design partners month 5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Honest baseline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</a:tbl>
          </a:graphicData>
        </a:graphic>
      </p:graphicFrame>
      <p:pic>
        <p:nvPicPr>
          <p:cNvPr id="15" name="Picture 14" descr="fig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727" y="2395728"/>
            <a:ext cx="3492104" cy="3246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26679" y="5687568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Reconstructed from the reported precision / recall / accuracy. The committed eval output replaces this in month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83337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07 / FIRST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Start where the</a:t>
            </a:r>
            <a:r>
              <a:rPr sz="4000" b="1">
                <a:solidFill>
                  <a:srgbClr val="4FD1C5"/>
                </a:solidFill>
                <a:latin typeface="Segoe UI"/>
              </a:rPr>
              <a:t> budget already exists.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Not consumers. Three partners in six months — one of them paying.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15258" cy="23317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2468880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FD1C5"/>
                </a:solidFill>
                <a:latin typeface="Segoe UI"/>
              </a:rPr>
              <a:t>PAID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NBFC / fintech video-KYC fraud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38144"/>
            <a:ext cx="3039770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A79EC4"/>
                </a:solidFill>
                <a:latin typeface="Segoe UI"/>
              </a:rPr>
              <a:t>RBI's Aug 2025 amendment made deepfake detection in V-CIP their obligation. They pay per check, and Chennai is dense with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2286000"/>
            <a:ext cx="3515258" cy="23317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5962" y="2468880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CC9F0"/>
                </a:solidFill>
                <a:latin typeface="Segoe UI"/>
              </a:rPr>
              <a:t>VALIDATION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5962" y="2761488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A Tamil Nadu cyber-crime / forensics 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5962" y="3438144"/>
            <a:ext cx="3039770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A79EC4"/>
                </a:solidFill>
                <a:latin typeface="Segoe UI"/>
              </a:rPr>
              <a:t>Unpaid, through CIIC's government network. This is what gives us credibility with everyone else.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9508" y="2286000"/>
            <a:ext cx="3515258" cy="23317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47252" y="2468880"/>
            <a:ext cx="303977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8B6CFF"/>
                </a:solidFill>
                <a:latin typeface="Segoe UI"/>
              </a:rPr>
              <a:t>DESIGN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7252" y="2761488"/>
            <a:ext cx="30397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6ED"/>
                </a:solidFill>
                <a:latin typeface="Segoe UI"/>
              </a:rPr>
              <a:t>One newsroom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7252" y="3438144"/>
            <a:ext cx="3039770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A79EC4"/>
                </a:solidFill>
                <a:latin typeface="Segoe UI"/>
              </a:rPr>
              <a:t>Easiest access, weakest payer — kept for workflow feedback, not revenue.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46320"/>
            <a:ext cx="11057839" cy="128016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1248" y="4992624"/>
            <a:ext cx="105091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FFB020"/>
                </a:solidFill>
                <a:latin typeface="Segoe UI"/>
              </a:rPr>
              <a:t>What a pilot is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FFF6ED"/>
                </a:solidFill>
                <a:latin typeface="Segoe UI"/>
              </a:rPr>
              <a:t>8 weeks · one workflow · a success metric agreed up front · hosted or on-prem · pricing hypothesis ₹2–10 per check, tested in the pilot, not assumed.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23545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08 / MARKET &amp;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A funded field,</a:t>
            </a:r>
            <a:r>
              <a:rPr sz="4000" b="1">
                <a:solidFill>
                  <a:srgbClr val="4FD1C5"/>
                </a:solidFill>
                <a:latin typeface="Segoe UI"/>
              </a:rPr>
              <a:t> an India-shaped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We know who is here. We are not claiming the best accuracy — we are claiming the most auditable, deployable answer for regulated mid-market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67712"/>
            <a:ext cx="3977639" cy="1005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2414016"/>
            <a:ext cx="3538727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4D9D"/>
                </a:solidFill>
                <a:latin typeface="Segoe UI"/>
              </a:rPr>
              <a:t>28.15 lakh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91206"/>
            <a:ext cx="3538727" cy="372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cyber-crime complaints in India, 2025
(the demand side of forensics)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64992"/>
            <a:ext cx="3977639" cy="1005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3511296"/>
            <a:ext cx="3538727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4FD1C5"/>
                </a:solidFill>
                <a:latin typeface="Segoe UI"/>
              </a:rPr>
              <a:t>Every V-CIP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888486"/>
            <a:ext cx="3538727" cy="372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RBI-regulated bank, NBFC and fintech doing
video-KYC now needs deepfake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62272"/>
            <a:ext cx="3977639" cy="1005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4608576"/>
            <a:ext cx="3538727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8B6CFF"/>
                </a:solidFill>
                <a:latin typeface="Segoe UI"/>
              </a:rPr>
              <a:t>$170M → $5.6B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985766"/>
            <a:ext cx="3538727" cy="372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global detection market 2025 → 2034,
47.6% CAGR (Market.us)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800600" y="2267712"/>
          <a:ext cx="6583680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868680"/>
                <a:gridCol w="1600200"/>
                <a:gridCol w="15087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Player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Base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Focus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Explainability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On-prem / CPU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pi-labs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Pune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LEA, defence, BFSI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Forensic reports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Kroop AI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India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KYC, enterprise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Not published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Not published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Contrails AI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India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Platforms, govt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Not published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Not published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Reality Defender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Multi-modal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Pindrop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US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Voice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ProofyX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Crescent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Image + video + audio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Grad-CAM + per-model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CPU · on-prem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66928" y="5596128"/>
            <a:ext cx="11057839" cy="71323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" y="576072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FFF6ED"/>
                </a:solidFill>
                <a:latin typeface="Segoe UI"/>
              </a:rPr>
              <a:t>pi-labs is the incumbent with Indian law enforcement and is in Gartner's 2026 deepfake-detection quadrant. Our claim is narrower: explainable, India-first, on-prem CPU — for the regulated mid-market the big vendors do not serve.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83337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09 /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Four ways to charge</a:t>
            </a:r>
            <a:r>
              <a:rPr sz="4000" b="1">
                <a:solidFill>
                  <a:srgbClr val="4FD1C5"/>
                </a:solidFill>
                <a:latin typeface="Segoe UI"/>
              </a:rPr>
              <a:t> for one API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Land through per-check and team plans; expand into on-prem licences. Every price below is a hypothesis until a pilot tests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57984"/>
            <a:ext cx="2226563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>
                <a:solidFill>
                  <a:srgbClr val="FFB020"/>
                </a:solidFill>
                <a:latin typeface="Segoe UI"/>
              </a:rPr>
              <a:t>HYPOTHESIS — tested in pilots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560320"/>
          <a:ext cx="11055096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240280"/>
                <a:gridCol w="3063240"/>
                <a:gridCol w="364845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79EC4"/>
                          </a:solidFill>
                          <a:latin typeface="Segoe UI"/>
                        </a:rPr>
                        <a:t>Stream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79EC4"/>
                          </a:solidFill>
                          <a:latin typeface="Segoe UI"/>
                        </a:rPr>
                        <a:t>Price (hypothesis)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79EC4"/>
                          </a:solidFill>
                          <a:latin typeface="Segoe UI"/>
                        </a:rPr>
                        <a:t>Who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79EC4"/>
                          </a:solidFill>
                          <a:latin typeface="Segoe UI"/>
                        </a:rPr>
                        <a:t>Why they buy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Per-check API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₹2–10 per check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NBFC / fintech KYC vendors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Regulatory duty, priced per user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Team plan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₹8,000–40,000 / month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Newsrooms, SMB fraud desks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Desk-level verification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On-prem licence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₹5–50 lakh / year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Banks, government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Data residency, SLA, audit trail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Government project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Project pricing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Cyber-crime units, forensic labs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6ED"/>
                          </a:solidFill>
                          <a:latin typeface="Segoe UI"/>
                        </a:rPr>
                        <a:t>Evidence workflow, training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5138928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5285232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UNIT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559552"/>
            <a:ext cx="310073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~5–6 s per image end to end on a laptop CPU today; the model forward is 0.56 s. Compute per check is paise either way — the cost is sales, not inference.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6026" y="5138928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45482" y="5285232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LAND AND 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5482" y="5559552"/>
            <a:ext cx="310073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One integration serves KYC, moderation and evidence — three budget lines in the same customer.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5124" y="5138928"/>
            <a:ext cx="3539642" cy="11155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04580" y="5285232"/>
            <a:ext cx="3100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C9F0"/>
                </a:solidFill>
                <a:latin typeface="Segoe UI"/>
              </a:rPr>
              <a:t>DATA RESIDENCY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4580" y="5559552"/>
            <a:ext cx="310073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A79EC4"/>
                </a:solidFill>
                <a:latin typeface="Segoe UI"/>
              </a:rPr>
              <a:t>On-prem and Indian-cloud deployment is the door-opener for banks and police; foreign APIs cannot follow.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31216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10 / WHY CIIC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What CIIC has</a:t>
            </a:r>
            <a:r>
              <a:rPr sz="4000" b="1">
                <a:solidFill>
                  <a:srgbClr val="4FD1C5"/>
                </a:solidFill>
                <a:latin typeface="Segoe UI"/>
              </a:rPr>
              <a:t> is what we need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Not flattery — a map of CIIC assets to ProofyX milestones. Every line is from CIIC's own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67712"/>
            <a:ext cx="3551834" cy="1353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395728"/>
            <a:ext cx="31494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D1C5"/>
                </a:solidFill>
                <a:latin typeface="Segoe UI"/>
              </a:rPr>
              <a:t>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517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CIIC exists to turn Crescent students into startups.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200400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We are Crescent students with a running, measured product.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9930" y="2267712"/>
            <a:ext cx="3551834" cy="1353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21098" y="2395728"/>
            <a:ext cx="31494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D1C5"/>
                </a:solidFill>
                <a:latin typeface="Segoe UI"/>
              </a:rPr>
              <a:t>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6517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AI/ML and Cyber Security are on CIIC's Industry 4.0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200400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ProofyX is an AI-security product — not media, not consumer.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2932" y="2267712"/>
            <a:ext cx="3551834" cy="1353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4100" y="2395728"/>
            <a:ext cx="31494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C9F0"/>
                </a:solidFill>
                <a:latin typeface="Segoe UI"/>
              </a:rPr>
              <a:t>COMPUTE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4100" y="26517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Intel AI Lab and Cloud Computing Lab.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4100" y="3200400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The difference between 'target 95%' and a measured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49040"/>
            <a:ext cx="3551834" cy="1353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8096" y="3877056"/>
            <a:ext cx="31494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133088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CIIC is the university's nodal IP office (CIPR / CTT).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681728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Provisional patent on the fusion design, month 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9930" y="3749040"/>
            <a:ext cx="3551834" cy="1353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1098" y="3877056"/>
            <a:ext cx="31494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FUNDING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098" y="4133088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Implementing agency for MeitY GENESIS EiR and SAMRIDH; DST NIDHI-PRAYAS centre.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098" y="4681728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We ask to be hosted for the next open window.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2932" y="3749040"/>
            <a:ext cx="3551834" cy="135331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74100" y="3877056"/>
            <a:ext cx="31494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C9F0"/>
                </a:solidFill>
                <a:latin typeface="Segoe UI"/>
              </a:rPr>
              <a:t>NETWORK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4100" y="4133088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IHFC (IIT Delhi) CiC; IITMIC co-incubation MoU; government and BFSI ties.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4100" y="4681728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Technical depth we cannot get alone; our first pilots.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321808"/>
            <a:ext cx="11057839" cy="768096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778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41248" y="5522976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6ED"/>
                </a:solidFill>
                <a:latin typeface="Segoe UI"/>
              </a:rPr>
              <a:t>Ask: incubation now · hosting for the next scheme window · a named mentor from CSE.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22529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11 /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₹8 lakh:</a:t>
            </a:r>
            <a:r>
              <a:rPr sz="4000" b="1">
                <a:solidFill>
                  <a:srgbClr val="4FD1C5"/>
                </a:solidFill>
                <a:latin typeface="Segoe UI"/>
              </a:rPr>
              <a:t> prototype to validated pilots.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Six months, five outcomes. Not CIIC's balance sheet — a CIIC-hosted scheme window plus in-kind support.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267712"/>
          <a:ext cx="68122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443484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₹ lakh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Activity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A79EC4"/>
                          </a:solidFill>
                          <a:latin typeface="Segoe UI"/>
                        </a:rPr>
                        <a:t>Milestone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GPU / cloud compute — calibration retraining, robustness sweep, pilot inference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M2 measured ensemble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0.90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Benchmark &amp; evaluation data, annotation, harness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M3 public benchmark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0.60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Security hardening + external VAPT of the API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M4 VAPT report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0.90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Production API, on-prem packaging, pilot environment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M4 pilot live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Incorporation, DPIIT, trademark, provisional patent, pilot MoU templates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M1 entity · M2 filing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0.60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Customer validation &amp; pilots — travel, demos, workshops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M5 three partners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1.40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Founder sustenance / part-time technical help (≈₹23k per month, team)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Full-time focus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0.80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Contingency (10%)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FFF6E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>8.00</a:t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FD1C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18872" marR="91440" marT="36576" marB="36576" anchor="ctr">
                    <a:solidFill>
                      <a:srgbClr val="1B3B4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635240" y="2267712"/>
            <a:ext cx="3977639" cy="187451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54696" y="2395728"/>
            <a:ext cx="3538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D1C5"/>
                </a:solidFill>
                <a:latin typeface="Segoe UI"/>
              </a:rPr>
              <a:t>WHERE IT COMES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2670048"/>
            <a:ext cx="35387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·  CIIC-hosted grant: NIDHI-PRAYAS 2.0 (≤₹20 lakh), GENESIS EiR (≤₹10 lakh) or MSME Innovative (≤₹15 lakh) — whichever opens first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·  In kind: Intel AI Lab compute, IP filing, DPIIT and legal support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100" b="0">
                <a:solidFill>
                  <a:srgbClr val="FFF6ED"/>
                </a:solidFill>
                <a:latin typeface="Segoe UI"/>
              </a:rPr>
              <a:t>·  Crescent Seed Money (₹20,000 per student) as a 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233672"/>
            <a:ext cx="3977639" cy="144475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54696" y="4334256"/>
            <a:ext cx="3538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FIVE OUTCOMES BY MONTH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4590288"/>
            <a:ext cx="353872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1  Ensemble calibration fixed and measured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2  A public-benchmark result anyone can reproduce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3  A security-audited, pilot-ready API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4  Three design partners under LOI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5  One paid pilot 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79008"/>
            <a:ext cx="1485638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6656" y="5833872"/>
            <a:ext cx="126618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D1C5"/>
                </a:solidFill>
                <a:latin typeface="Segoe UI"/>
              </a:rPr>
              <a:t>M0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6053328"/>
            <a:ext cx="12661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FF6ED"/>
                </a:solidFill>
                <a:latin typeface="Segoe UI"/>
              </a:rPr>
              <a:t>Incorporate · DPIIT · onboard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62294" y="5779008"/>
            <a:ext cx="1485638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272022" y="5833872"/>
            <a:ext cx="126618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D1C5"/>
                </a:solidFill>
                <a:latin typeface="Segoe UI"/>
              </a:rPr>
              <a:t>M1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2022" y="6053328"/>
            <a:ext cx="12661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FF6ED"/>
                </a:solidFill>
                <a:latin typeface="Segoe UI"/>
              </a:rPr>
              <a:t>Calibration fixed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57661" y="5779008"/>
            <a:ext cx="1485638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867389" y="5833872"/>
            <a:ext cx="126618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D1C5"/>
                </a:solidFill>
                <a:latin typeface="Segoe UI"/>
              </a:rPr>
              <a:t>M2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7389" y="6053328"/>
            <a:ext cx="12661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FF6ED"/>
                </a:solidFill>
                <a:latin typeface="Segoe UI"/>
              </a:rPr>
              <a:t>Robustness · patent filed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3028" y="5779008"/>
            <a:ext cx="1485638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62756" y="5833872"/>
            <a:ext cx="126618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D1C5"/>
                </a:solidFill>
                <a:latin typeface="Segoe UI"/>
              </a:rPr>
              <a:t>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2756" y="6053328"/>
            <a:ext cx="12661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FF6ED"/>
                </a:solidFill>
                <a:latin typeface="Segoe UI"/>
              </a:rPr>
              <a:t>Public benchmark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8394" y="5779008"/>
            <a:ext cx="1485638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8122" y="5833872"/>
            <a:ext cx="126618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D1C5"/>
                </a:solidFill>
                <a:latin typeface="Segoe UI"/>
              </a:rPr>
              <a:t>M4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8122" y="6053328"/>
            <a:ext cx="12661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FF6ED"/>
                </a:solidFill>
                <a:latin typeface="Segoe UI"/>
              </a:rPr>
              <a:t>VAPT · pilot env live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3761" y="5779008"/>
            <a:ext cx="1485638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653489" y="5833872"/>
            <a:ext cx="126618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D1C5"/>
                </a:solidFill>
                <a:latin typeface="Segoe UI"/>
              </a:rPr>
              <a:t>M5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3489" y="6053328"/>
            <a:ext cx="12661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FF6ED"/>
                </a:solidFill>
                <a:latin typeface="Segoe UI"/>
              </a:rPr>
              <a:t>3 design partners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39128" y="5779008"/>
            <a:ext cx="1485638" cy="65836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2700">
            <a:solidFill>
              <a:srgbClr val="2A2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248856" y="5833872"/>
            <a:ext cx="126618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D1C5"/>
                </a:solidFill>
                <a:latin typeface="Segoe UI"/>
              </a:rPr>
              <a:t>M6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8856" y="6053328"/>
            <a:ext cx="126618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FFF6ED"/>
                </a:solidFill>
                <a:latin typeface="Segoe UI"/>
              </a:rPr>
              <a:t>1 paid pilot · Stage-2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2528316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12 / MILESTONES &amp; NEXT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6ED"/>
                </a:solidFill>
                <a:latin typeface="Segoe UI"/>
              </a:rPr>
              <a:t>Then ₹20–30 lakh.</a:t>
            </a:r>
            <a:r>
              <a:rPr sz="4000" b="1">
                <a:solidFill>
                  <a:srgbClr val="4FD1C5"/>
                </a:solidFill>
                <a:latin typeface="Segoe UI"/>
              </a:rPr>
              <a:t> Then ₹50 lakh to ₹1 crore.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2704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0078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79EC4"/>
                </a:solidFill>
                <a:latin typeface="Segoe UI"/>
              </a:rPr>
              <a:t>₹8 lakh is the first milestone-based requirement, not the lifetime need. Each stage is unlocked by evidence from the last.</a:t>
            </a:r>
          </a:p>
        </p:txBody>
      </p:sp>
      <p:pic>
        <p:nvPicPr>
          <p:cNvPr id="10" name="Picture 9" descr="fig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477" y="2212848"/>
            <a:ext cx="6680740" cy="2468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846320"/>
            <a:ext cx="2599867" cy="12435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4956048"/>
            <a:ext cx="22341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Muhammed Sayeedur Rahman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68112"/>
            <a:ext cx="223410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ML &amp; platform · detection stack, fusion, API, compliance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6251" y="4846320"/>
            <a:ext cx="2599867" cy="12435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69131" y="4956048"/>
            <a:ext cx="22341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Mohamed Abrar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9131" y="5468112"/>
            <a:ext cx="223410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Product &amp; frontend · dashboard, analysis workflows,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4846320"/>
            <a:ext cx="2599867" cy="12435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397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88455" y="4956048"/>
            <a:ext cx="22341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>
                <a:solidFill>
                  <a:srgbClr val="FFF6ED"/>
                </a:solidFill>
                <a:latin typeface="Segoe UI"/>
              </a:rPr>
              <a:t>Mohamed Shahid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8455" y="5468112"/>
            <a:ext cx="223410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A79EC4"/>
                </a:solidFill>
                <a:latin typeface="Segoe UI"/>
              </a:rPr>
              <a:t>Infrastructure &amp; QA · CI/CD, containers, security scanning,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4899" y="4846320"/>
            <a:ext cx="2599867" cy="1243584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397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07779" y="4956048"/>
            <a:ext cx="22341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B020"/>
                </a:solidFill>
                <a:latin typeface="Segoe UI"/>
              </a:rPr>
              <a:t>WE ARE ASKING CIIC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7779" y="5230368"/>
            <a:ext cx="223410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·  Incubation-committee slot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·  Named CSE faculty mentor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50" b="0">
                <a:solidFill>
                  <a:srgbClr val="FFF6ED"/>
                </a:solidFill>
                <a:latin typeface="Segoe UI"/>
              </a:rPr>
              <a:t>·  Scheme-application conversation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18134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Full-time commitment and department / year for each founder to be stated in the room. Roles above are from repository ownership — confirm before presenting.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226771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APPENDIX / WHAT IS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6ED"/>
                </a:solidFill>
                <a:latin typeface="Segoe UI"/>
              </a:rPr>
              <a:t>Shipped, experimental,</a:t>
            </a:r>
            <a:r>
              <a:rPr sz="3400" b="1">
                <a:solidFill>
                  <a:srgbClr val="4FD1C5"/>
                </a:solidFill>
                <a:latin typeface="Segoe UI"/>
              </a:rPr>
              <a:t> planned.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3560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A79EC4"/>
                </a:solidFill>
                <a:latin typeface="Segoe UI"/>
              </a:rPr>
              <a:t>For questions. Repository at HEAD, September 2026 — 251 automated tests.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103120"/>
          <a:ext cx="11055096" cy="4169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0"/>
                <a:gridCol w="1737360"/>
                <a:gridCol w="3557016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79EC4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 marL="118872" marR="91440" marT="36576" marB="36576" anchor="ctr">
                    <a:solidFill>
                      <a:srgbClr val="2A21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Image detection — ensemble (DINOv2, EfficientNet, ViT, CLIP, face, texture, frequency)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Ensemble accuracy not yet measured (calibration bug)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CorefakeNet unified model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 · MEASURED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82.5% / 90.9% AUC / 564 ms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Grad-CAM + per-model evidence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Video (frame sampling, timeline, temporal LSTM)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LSTM unvalidated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Audio (Wav2Vec2 wrapper + CNN fallback)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Upstream model; own eval month 3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Multimodal fusion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Flagged / clean modalities surfaced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EXIF, GPS, C2PA check, SHA-256 hash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Compliance &amp; traceability API (orgs, keys, ingest, SLA, audit log, webhooks)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IT Rules 2026 alignment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Cyber-crime complaint document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Document only — no custody chain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Document / ID forensics (ELA etc.)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Classical CV heuristics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Aadhaar / PAN / Voter-ID validators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SHIPPED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Format &amp; checksum only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Reverse image search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Needs Bing key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Adversarial robustness eval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SCRIPT ONLY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Run = month 2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Public benchmark · GPU inference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6ED"/>
                          </a:solidFill>
                          <a:latin typeface="Segoe UI"/>
                        </a:rPr>
                        <a:t>Months 3 · Stage 2</a:t>
                      </a:r>
                    </a:p>
                  </a:txBody>
                  <a:tcPr marL="118872" marR="91440" marT="36576" marB="36576" anchor="ctr">
                    <a:solidFill>
                      <a:srgbClr val="1C12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0C42"/>
              </a:gs>
              <a:gs pos="100000">
                <a:srgbClr val="08021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-3840480"/>
            <a:ext cx="7863840" cy="7863840"/>
          </a:xfrm>
          <a:prstGeom prst="ellipse">
            <a:avLst/>
          </a:prstGeom>
          <a:solidFill>
            <a:srgbClr val="8B6CFF">
              <a:alpha val="11000"/>
            </a:srgbClr>
          </a:solidFill>
          <a:ln>
            <a:noFill/>
          </a:ln>
          <a:effectLst>
            <a:softEdge rad="20116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383280" y="3840480"/>
            <a:ext cx="6400800" cy="6400800"/>
          </a:xfrm>
          <a:prstGeom prst="ellipse">
            <a:avLst/>
          </a:prstGeom>
          <a:solidFill>
            <a:srgbClr val="4FD1C5">
              <a:alpha val="7000"/>
            </a:srgbClr>
          </a:solidFill>
          <a:ln>
            <a:noFill/>
          </a:ln>
          <a:effectLst>
            <a:softEdge rad="1828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837448" cy="7863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1720" y="365760"/>
            <a:ext cx="174650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FFF6ED"/>
                </a:solidFill>
                <a:latin typeface="Segoe UI"/>
              </a:rPr>
              <a:t>APPENDIX /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32688"/>
            <a:ext cx="110578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FF6ED"/>
                </a:solidFill>
                <a:latin typeface="Segoe UI"/>
              </a:rPr>
              <a:t>Every number</a:t>
            </a:r>
            <a:r>
              <a:rPr sz="3400" b="1">
                <a:solidFill>
                  <a:srgbClr val="4FD1C5"/>
                </a:solidFill>
                <a:latin typeface="Segoe UI"/>
              </a:rPr>
              <a:t> has a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35608"/>
            <a:ext cx="960120" cy="381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9344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A79EC4"/>
                </a:solidFill>
                <a:latin typeface="Segoe UI"/>
              </a:rPr>
              <a:t>Full research and links: docs/pitch/CIIC_STRATEGY.md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2586151" cy="30175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FF4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4D9D"/>
                </a:solidFill>
                <a:latin typeface="Segoe UI"/>
              </a:rPr>
              <a:t>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33472"/>
            <a:ext cx="21838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₹22,495 cr, 28.15 lakh complaints — I4C / MHA,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47% AI voice-scam exposure — McAfee, 2023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27.3 lakh mule accounts — I4C, Jan 2026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CM deepfake case — TN Cyber Crime Wing / CBCID, 1 Sept 2026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65% of orgs attacked — Thales,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2103120"/>
            <a:ext cx="2586151" cy="30175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91991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8B6CFF"/>
                </a:solidFill>
                <a:latin typeface="Segoe UI"/>
              </a:rPr>
              <a:t>REGULATION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2633472"/>
            <a:ext cx="21838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IT Amendment Rules 2026 — MeitY, in force 20 Feb 2026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KYC Master Direction amendment — RBI, 14 Aug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EU AI Act Art. 50 — 2 Aug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2103120"/>
            <a:ext cx="2586151" cy="30175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15887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FD1C5"/>
                </a:solidFill>
                <a:latin typeface="Segoe UI"/>
              </a:rPr>
              <a:t>CIIC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633472"/>
            <a:ext cx="21838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Vision, mission, domains — ciic.ventures/about, /nidhi-prayas-program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GENESIS EiR via CIIC — CIIC X, Jan &amp; Mar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IHFC CiC — ihfc.co.in, 6 Mar 2025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IITMIC MoU — crescent.education, 31 Mar 2021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PRAYAS 2.0 guidelines — nidhi-prayas.org,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8615" y="2103120"/>
            <a:ext cx="2586151" cy="30175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A1E53"/>
              </a:gs>
              <a:gs pos="100000">
                <a:srgbClr val="1C123F"/>
              </a:gs>
            </a:gsLst>
            <a:lin scaled="0" ang="5400000"/>
          </a:gradFill>
          <a:ln w="1524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39783" y="2267712"/>
            <a:ext cx="21838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4CC9F0"/>
                </a:solidFill>
                <a:latin typeface="Segoe UI"/>
              </a:rPr>
              <a:t>MARKET &amp; COMPETITION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783" y="2633472"/>
            <a:ext cx="21838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$170M → $5.6B, 47.6% CAGR — Market.us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pi-labs — pi-labs.ai; Gartner 2026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Kroop AI, Contrails AI — PitchBook, press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·  iProov confidence gap — Feb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4924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79EC4"/>
                </a:solidFill>
                <a:latin typeface="Segoe UI"/>
              </a:rPr>
              <a:t>ProofyX figures: CorefakeNet evaluation on 332 held-out samples; charts regenerated by scripts/make_pitch_figures.py and scripts/make_ciic_figures.py.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