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15s. 'ProofyX answers one question: is this real? For any image, video or voice file, in seconds, with the evidence attached.' Do not explain the architecture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Lead with the confidence gap on the right: people are sure they can tell, and they cannot. Then the money. Land on: this is already a booked loss line, not a future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This is the slide that answers 'why now'. The EU date is fixed and close. Budget already exists on the other side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The unique value proposition is the second half of the sentence: everyone can say fake or real. We say why, in a form that survives an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40s. If there is a laptop in the room, demo instead of showing this: upload one fake, land on the heatmap. 60 seconds, one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Do not skip the last two rows. Volunteering the weak number is what makes the strong ones believable in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The point is the CAGR plus the mandate on the previous slide. A 47.6% CAGR with a legal forcing function is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Be ready for 'how did you get to SOM' — it is 2-4% of SAM at year 5, and the assumptions are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Never say 'no competition'. Name the funded players first, then the one row where we differ. Expect a question on moat — answer with the explainability workflow and the modular retrain loop, not the model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20s. Investors want to know the land-and-expand path. Self-serve API is the wedge, enterprise licence is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Say the word 'projection' out loud. If asked for the model, the spreadsheet is in the data room — do not improvise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Name the gap yourself. An investor who spots a missing hustler before you name it will discount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Give the range, the runway and the milestones. Do not state a valuation from the stage; keep it 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10s. Close on the ask, not on 'thank you'. Placeholders on this slide MUST be replaced before the deck leaves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Do not present unless asked. Hand this slide over when an investor questions a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126591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64592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0" b="1">
                <a:solidFill>
                  <a:srgbClr val="FFF6ED"/>
                </a:solidFill>
                <a:latin typeface="Segoe UI"/>
              </a:rPr>
              <a:t>ProofyX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27248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3000" b="1">
                <a:solidFill>
                  <a:srgbClr val="4FD1C5"/>
                </a:solidFill>
                <a:latin typeface="Segoe UI"/>
              </a:rPr>
              <a:t>Is this real?</a:t>
            </a:r>
          </a:p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1700" b="0">
                <a:solidFill>
                  <a:srgbClr val="FFF6ED"/>
                </a:solidFill>
                <a:latin typeface="Segoe UI"/>
              </a:rPr>
              <a:t>ProofyX answers that in seconds — for any image, video or voice — and shows the evidence behind the answer.</a:t>
            </a:r>
          </a:p>
        </p:txBody>
      </p:sp>
      <p:pic>
        <p:nvPicPr>
          <p:cNvPr id="8" name="Picture 7" descr="pr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20440"/>
            <a:ext cx="5532120" cy="25073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961888"/>
            <a:ext cx="187451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FFF6ED"/>
                </a:solidFill>
                <a:latin typeface="Segoe UI"/>
              </a:rPr>
              <a:t>Investor Pitch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608" y="596188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6ED"/>
          </a:solidFill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0E042D"/>
                </a:solidFill>
                <a:latin typeface="Segoe UI"/>
              </a:rPr>
              <a:t>Seed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01 /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Nobody can tell</a:t>
            </a:r>
            <a:r>
              <a:rPr sz="4000" b="1">
                <a:solidFill>
                  <a:srgbClr val="4FD1C5"/>
                </a:solidFill>
                <a:latin typeface="Segoe UI"/>
              </a:rPr>
              <a:t> what is real any more.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Synthetic media crossed the threshold where human review stops working — and the losses are already being booked.</a:t>
            </a:r>
          </a:p>
        </p:txBody>
      </p:sp>
      <p:pic>
        <p:nvPicPr>
          <p:cNvPr id="10" name="Picture 9" descr="fig_detect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48633"/>
            <a:ext cx="5257800" cy="23550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304288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2304288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4D9D"/>
                </a:solidFill>
                <a:latin typeface="Segoe UI"/>
              </a:rPr>
              <a:t>8M+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304288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Deepfake files in circulation in 2025,
up from 500K in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56432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3456432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4D9D"/>
                </a:solidFill>
                <a:latin typeface="Segoe UI"/>
              </a:rPr>
              <a:t>$893M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456432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AI-enabled fraud losses logged by the FBI
in 2025, across 22,364 complaints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8576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608576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B020"/>
                </a:solidFill>
                <a:latin typeface="Segoe UI"/>
              </a:rPr>
              <a:t>$280K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608576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Average loss per single
deepfake fraud incident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70448"/>
            <a:ext cx="5532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Detection is now a compliance problem, not a curiosity. Banks, newsrooms and courts need an answer they can put in a file.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358384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iProov tested 2,000 UK and US consumers on real and fake media. Six in ten backed themselves; one in a thousand got every item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02 /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Detection just became</a:t>
            </a:r>
            <a:r>
              <a:rPr sz="4000" b="1">
                <a:solidFill>
                  <a:srgbClr val="4FD1C5"/>
                </a:solidFill>
                <a:latin typeface="Segoe UI"/>
              </a:rPr>
              <a:t> legally mandatory.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Regulation is converting deepfake detection from a nice-to-have into compulsory spend — on a clock we can 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EU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Article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From 2 August 2026, AI-generated content must be machine-readable and detectable. Article 99 penalties reach EUR 15M or 3% of global turnover.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23995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C9F0"/>
                </a:solidFill>
                <a:latin typeface="Segoe UI"/>
              </a:rPr>
              <a:t>UNITED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995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TAKE IT DOWN Act + 46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995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Signed May 2025. 169 state deepfake laws since 2022, 146 bills in 2025 alone. FinCEN warned financial institutions in Q4 2025.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3319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FD1C5"/>
                </a:solidFill>
                <a:latin typeface="Segoe UI"/>
              </a:rPr>
              <a:t>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IT Rules amendment,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Synthetic-media labelling and takedown duties for intermediaries — the market where our first design partners sit.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4899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62643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643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China, South Korea, FATF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643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FATF named deepfakes a direct threat to AML and customer due diligence. South Korea legislated after a 1,625% spike in deepfake fraud.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03520"/>
            <a:ext cx="11057839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1248" y="550468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The buyer no longer has to be convinced the problem is real — a regulator already told them. That changes the sales cycle from evangelism to procurement.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31216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03 /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One number, and</a:t>
            </a:r>
            <a:r>
              <a:rPr sz="4000" b="1">
                <a:solidFill>
                  <a:srgbClr val="4FD1C5"/>
                </a:solidFill>
                <a:latin typeface="Segoe UI"/>
              </a:rPr>
              <a:t> the reason behind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ProofyX returns a 0-100 Trust Score for any image, video or audio file — plus the heatmap and per-model evidence that produced it.</a:t>
            </a:r>
          </a:p>
        </p:txBody>
      </p:sp>
      <p:pic>
        <p:nvPicPr>
          <p:cNvPr id="10" name="Picture 9" descr="modality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285" y="4882896"/>
            <a:ext cx="6415125" cy="1664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304288"/>
            <a:ext cx="3515258" cy="239572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FD1C5"/>
                </a:solidFill>
                <a:latin typeface="Segoe UI"/>
              </a:rPr>
              <a:t>EVIDENCE, NOT A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79776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Explainable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303977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GradCAM heatmaps show which pixels drove the score, and every model in the ensemble reports separately. Competitors return a binary label; a compliance officer cannot file a binary label.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2304288"/>
            <a:ext cx="3515258" cy="239572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5962" y="2487168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C9F0"/>
                </a:solidFill>
                <a:latin typeface="Segoe UI"/>
              </a:rPr>
              <a:t>BREADTH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962" y="2779776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Image, video, audio and cross-modal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962" y="3456432"/>
            <a:ext cx="303977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One API covers all three modalities and scores a video on its frames AND its soundtrack, surfacing disagreement between them rather than averaging it away.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2304288"/>
            <a:ext cx="3515258" cy="239572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47252" y="2487168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DURABILITY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7252" y="2779776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Modular against the arms 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7252" y="3456432"/>
            <a:ext cx="303977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Detection is a moving target. Models are swappable behind a stable scoring interface, so a new generator is a model update, not a rewrite.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04 /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Upload. Score.</a:t>
            </a:r>
            <a:r>
              <a:rPr sz="4000" b="1">
                <a:solidFill>
                  <a:srgbClr val="4FD1C5"/>
                </a:solidFill>
                <a:latin typeface="Segoe UI"/>
              </a:rPr>
              <a:t>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Live product: React dashboard, documented REST API, ten models loaded, running today on image, video and audio.</a:t>
            </a:r>
          </a:p>
        </p:txBody>
      </p:sp>
      <p:pic>
        <p:nvPicPr>
          <p:cNvPr id="10" name="Picture 9" descr="u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231136"/>
            <a:ext cx="5532120" cy="3063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89904" y="2231136"/>
            <a:ext cx="5532120" cy="3063240"/>
          </a:xfrm>
          <a:prstGeom prst="roundRect">
            <a:avLst>
              <a:gd name="adj" fmla="val 6000"/>
            </a:avLst>
          </a:prstGeom>
          <a:noFill/>
          <a:ln w="1778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89904" y="5376672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Concept render of the analysis view. Replace with a live screenshot before pitching — the product is running.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231136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13232" y="2386584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340864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Drag in a file, or POST to /api/v1. JPG PNG WebP, MP4 MOV MKV, WAV MP3 FLAC.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35808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13232" y="3191256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14553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136392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Ten models score in parallel; learned fusion reconciles them with calibrated confidence.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840480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3232" y="3995928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95020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941064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Trust Score 0-100, GradCAM heatmap, per-model scores and an EXIF forensics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45152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13232" y="4800600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475488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745736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Four-tier verdict, exportable report, and a one-click cybercrime complaint filing in India.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577840"/>
            <a:ext cx="220004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4D9D"/>
                </a:solidFill>
                <a:latin typeface="Segoe UI"/>
              </a:rPr>
              <a:t>AI-GENERATED  (risk ≥ 0.60)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76702" y="5577840"/>
            <a:ext cx="198607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4FD1C5"/>
                </a:solidFill>
                <a:latin typeface="Segoe UI"/>
              </a:rPr>
              <a:t>AUTHENTIC  (risk &lt; 0.60)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72506" y="5577840"/>
            <a:ext cx="248533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B020"/>
                </a:solidFill>
                <a:latin typeface="Segoe UI"/>
              </a:rPr>
              <a:t>CONFIDENCE  HIGH · MEDIUM ·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0533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Verdict plus a separate confidence band, so a 0.55 never reads like a 0.95.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4859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05 /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What is measured,</a:t>
            </a:r>
            <a:r>
              <a:rPr sz="4000" b="1">
                <a:solidFill>
                  <a:srgbClr val="4FD1C5"/>
                </a:solidFill>
                <a:latin typeface="Segoe UI"/>
              </a:rPr>
              <a:t> and what is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Every number below is reproducible from this repository. We label targets as targets.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86000"/>
          <a:ext cx="11064240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880"/>
                <a:gridCol w="1417320"/>
                <a:gridCol w="4069080"/>
                <a:gridCol w="19659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Measured result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CorefakeNet unified image model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82.5% acc · 90.9% ROC-AUC · F1 81.3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332 held-out samples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Single-image latency (CPU)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564 ms — 4.9x faster than the ensemble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Benchmark run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Video pipeline, end to end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Verified at 1/2/10/20 FPS, all 200 OK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docs section 18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Audio deepfake detection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Wav2Vec2 backbone — 97.9% on the model card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Upstream benchmark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REST API + React dashboard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Live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10 models loaded, OpenAPI documented, rate-limited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Deployed build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7-model ensemble accuracy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95%+ target — fusion calibration being corrected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Not yet claimable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Paying customers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Not yet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Zero. Seeking design partners.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Honest baseline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742432"/>
            <a:ext cx="11057839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5925312"/>
            <a:ext cx="105091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6ED"/>
                </a:solidFill>
                <a:latin typeface="Segoe UI"/>
              </a:rPr>
              <a:t>We are pre-revenue. The ask funds the move from a working, measured prototype to a calibrated product with design partners under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1384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06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A $170M market</a:t>
            </a:r>
            <a:r>
              <a:rPr sz="4000" b="1">
                <a:solidFill>
                  <a:srgbClr val="4FD1C5"/>
                </a:solidFill>
                <a:latin typeface="Segoe UI"/>
              </a:rPr>
              <a:t> compounding at 47.6%.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Early, mandated, and accelerating fast.</a:t>
            </a:r>
          </a:p>
        </p:txBody>
      </p:sp>
      <p:pic>
        <p:nvPicPr>
          <p:cNvPr id="10" name="Picture 9" descr="fig_marke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39029"/>
            <a:ext cx="5687568" cy="324064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194560"/>
            <a:ext cx="5120640" cy="115214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2340864"/>
            <a:ext cx="4681728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4CC9F0"/>
                </a:solidFill>
                <a:latin typeface="Segoe UI"/>
              </a:rPr>
              <a:t>$5.6B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20924"/>
            <a:ext cx="4681728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Deepfake detection market by 2034
(from $170M in 2025)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120640" cy="115214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3584448"/>
            <a:ext cx="4681728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8B6CFF"/>
                </a:solidFill>
                <a:latin typeface="Segoe UI"/>
              </a:rPr>
              <a:t>66.7%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64508"/>
            <a:ext cx="4681728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Of the market is video and image
detection — our core strength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81728"/>
            <a:ext cx="5120640" cy="115214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828032"/>
            <a:ext cx="4681728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4FD1C5"/>
                </a:solidFill>
                <a:latin typeface="Segoe UI"/>
              </a:rPr>
              <a:t>49.2%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308092"/>
            <a:ext cx="4681728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Media and journalism share, with
financial services fastest-growing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6188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Adjacent budget lines we can reach from the same API: digital identity verification (~$18B by 2027) and content moderation (~$12B by 2027).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1384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06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TAM, SAM and the</a:t>
            </a:r>
            <a:r>
              <a:rPr sz="4000" b="1">
                <a:solidFill>
                  <a:srgbClr val="4FD1C5"/>
                </a:solidFill>
                <a:latin typeface="Segoe UI"/>
              </a:rPr>
              <a:t> share we are underwriting.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Sized bottom-up from the segments a detection API can actually invoice, not from the whole cybersecurity market.</a:t>
            </a:r>
          </a:p>
        </p:txBody>
      </p:sp>
      <p:pic>
        <p:nvPicPr>
          <p:cNvPr id="10" name="Picture 9" descr="fig_tam_sam_s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4001"/>
            <a:ext cx="6720840" cy="36444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224942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WHERE THE FIRST DOLLARS COME FROM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633472"/>
            <a:ext cx="4023360" cy="93268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08976" y="2770632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Segoe UI"/>
              </a:rPr>
              <a:t>Financial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3054096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KYC/AML and voice-auth fraud. $0.50-1.50 per verification. Fastest-growing vertical.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675887"/>
            <a:ext cx="4023360" cy="93268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08976" y="3813047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Segoe UI"/>
              </a:rPr>
              <a:t>Media and newsrooms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4096511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Pre-publication verification. Largest current share of the market at ~49%.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718302"/>
            <a:ext cx="4023360" cy="93268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08976" y="4855462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Segoe UI"/>
              </a:rPr>
              <a:t>Government and 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5138926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Evidence authentication and counter-disinformation. $0.82B defence segment in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797296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Comparable: Doppel grew enterprise customers 400% in one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57276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07 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A funded field —</a:t>
            </a:r>
            <a:r>
              <a:rPr sz="4000" b="1">
                <a:solidFill>
                  <a:srgbClr val="4FD1C5"/>
                </a:solidFill>
                <a:latin typeface="Segoe UI"/>
              </a:rPr>
              <a:t> and a gap in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26 funded companies have raised $259M between them. None of the leaders ship breadth and explainability in the same product.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67712"/>
          <a:ext cx="1014984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417320"/>
                <a:gridCol w="2148840"/>
                <a:gridCol w="260604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Player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Raised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Modalities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Explainable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Fast mode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Reality Defender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$52.4M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Multi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Doppel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$124M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Social eng.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Real-time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Pindrop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Major VC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Voice only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GetReal Security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$17.5M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Visual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Forensic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Sensity AI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Undisclosed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Visual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Forensic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Intel FakeCatcher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Video only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Physiological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ProofyX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Pre-seed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Image+Video+Audio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GradCAM + per-model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Yes (4.9x)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358384"/>
            <a:ext cx="11057839" cy="9692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5522976"/>
            <a:ext cx="105091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4FD1C5"/>
                </a:solidFill>
                <a:latin typeface="Segoe UI"/>
              </a:rPr>
              <a:t>Our narrow, defensible claim: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ProofyX is the only stack combining all three modalities, per-model explainability and a fast single-pass mode behind one API — the shape a regulated buyer needs to file a decision, not just make one. We are not claiming the best single-model accuracy; we are claiming the most auditable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83337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08 /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Four ways to charge</a:t>
            </a:r>
            <a:r>
              <a:rPr sz="4000" b="1">
                <a:solidFill>
                  <a:srgbClr val="4FD1C5"/>
                </a:solidFill>
                <a:latin typeface="Segoe UI"/>
              </a:rPr>
              <a:t> for the same API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Land through self-serve and the API, expand into enterprise licences. Benchmarked against what this market already pays.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67712"/>
          <a:ext cx="11055096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240280"/>
                <a:gridCol w="2788920"/>
                <a:gridCol w="364845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Stream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Price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Target customer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Why they buy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API-as-a-service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$0.25-0.50 / analysis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Platforms, integrators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Volume moderation, drop-in call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SaaS subscription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$99-499 / month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Newsrooms, SMBs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Desk-level verification workflow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Per-check KYC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$0.50-1.50 / check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Financial services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Regulatory duty, priced per user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Enterprise licence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$50K-500K / year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Banks, government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On-prem, SLA, audit trail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974336"/>
            <a:ext cx="3539642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512064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13248"/>
            <a:ext cx="3100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Sightengine charges $99/mo for 40,000 images; deepidv $19/mo + $0.50/check.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6026" y="4974336"/>
            <a:ext cx="3539642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45482" y="512064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GROSS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482" y="5413248"/>
            <a:ext cx="3100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CPU inference today; GPU batch on the roadmap moves unit cost down as volume rises.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5124" y="4974336"/>
            <a:ext cx="3539642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04580" y="512064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580" y="5413248"/>
            <a:ext cx="3100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Same API serves moderation, KYC and evidence — one integration, three budget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4859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09 /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Five-year path</a:t>
            </a:r>
            <a:r>
              <a:rPr sz="4000" b="1">
                <a:solidFill>
                  <a:srgbClr val="4FD1C5"/>
                </a:solidFill>
                <a:latin typeface="Segoe UI"/>
              </a:rPr>
              <a:t> to $100-200M ARR.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Conservative and target cases. Pre-revenue today — these are projections, and the assumptions are listed opposite.</a:t>
            </a:r>
          </a:p>
        </p:txBody>
      </p:sp>
      <p:pic>
        <p:nvPicPr>
          <p:cNvPr id="10" name="Picture 9" descr="fig_revenue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7486"/>
            <a:ext cx="6446520" cy="3463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0920" y="22311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ASSUMPTIONS BEHIND THE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615184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62088" y="2734056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Year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980944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3-6 design partners at $50-150K. No self-serve revenue assumed.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493008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62088" y="3611880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Year 2-3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3858768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Self-serve API opens; enterprise ACV rises as the EU AI Act deadline bites.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370832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62088" y="4489704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Year 4-5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4736592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2-4% of a $5-8B SAM. Requires GPU inference and a compliance-certified deployment.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5248656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62088" y="5367528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Cost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5614416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Team and compute dominate; inference cost per call falls with batch GPU.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96469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10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Builders who already</a:t>
            </a:r>
            <a:r>
              <a:rPr sz="4000" b="1">
                <a:solidFill>
                  <a:srgbClr val="4FD1C5"/>
                </a:solidFill>
                <a:latin typeface="Segoe UI"/>
              </a:rPr>
              <a:t> shipped the hard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Ten models, three modalities and a live API — built by this team before raising a rupee.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03066" cy="2560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22960" y="2487168"/>
            <a:ext cx="5486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2D59"/>
              </a:gs>
              <a:gs pos="100000">
                <a:srgbClr val="2A2145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C9F0"/>
                </a:solidFill>
                <a:latin typeface="Segoe UI"/>
              </a:rPr>
              <a:t>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299100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Muhammed Sayeedur Rahman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75887"/>
            <a:ext cx="29910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D1C5"/>
                </a:solidFill>
                <a:latin typeface="Segoe UI"/>
              </a:rPr>
              <a:t>Founder / ML &amp;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299100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Owns the detection stack and API: model training, fusion calibration, FastAPI backend and the compliance/traceability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2286000"/>
            <a:ext cx="3503066" cy="2560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00346" y="2487168"/>
            <a:ext cx="5486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2D59"/>
              </a:gs>
              <a:gs pos="100000">
                <a:srgbClr val="2A2145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C9F0"/>
                </a:solidFill>
                <a:latin typeface="Segoe UI"/>
              </a:rPr>
              <a:t>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346" y="3108960"/>
            <a:ext cx="299100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Mohamed Abrar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346" y="3675887"/>
            <a:ext cx="29910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D1C5"/>
                </a:solidFill>
                <a:latin typeface="Segoe UI"/>
              </a:rPr>
              <a:t>Co-founder / Product &amp;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346" y="3968496"/>
            <a:ext cx="299100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Largest contributor by commit count. Owns the React dashboard, the analysis workflows and the deployment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700" y="2286000"/>
            <a:ext cx="3503066" cy="2560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377732" y="2487168"/>
            <a:ext cx="5486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2D59"/>
              </a:gs>
              <a:gs pos="100000">
                <a:srgbClr val="2A2145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C9F0"/>
                </a:solidFill>
                <a:latin typeface="Segoe UI"/>
              </a:rPr>
              <a:t>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7732" y="3108960"/>
            <a:ext cx="299100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Mohamed Shahid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7732" y="3675887"/>
            <a:ext cx="29910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D1C5"/>
                </a:solidFill>
                <a:latin typeface="Segoe UI"/>
              </a:rPr>
              <a:t>Co-founder / Infrastructure &amp;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7732" y="3968496"/>
            <a:ext cx="299100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Owns CI/CD, containerisation, security scanning and the test suite across the backend.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56048"/>
            <a:ext cx="11057839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8" y="5120640"/>
            <a:ext cx="1050919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200" b="1">
                <a:solidFill>
                  <a:srgbClr val="FFB020"/>
                </a:solidFill>
                <a:latin typeface="Segoe UI"/>
              </a:rPr>
              <a:t>What we are missing, and are hiring for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A commercial lead with enterprise security or regtech sales experience, and a senior advisor from media forensics or financial-crime compliance. Both are line items in the ask.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11 /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Raising</a:t>
            </a:r>
            <a:r>
              <a:rPr sz="4000" b="1">
                <a:solidFill>
                  <a:srgbClr val="4FD1C5"/>
                </a:solidFill>
                <a:latin typeface="Segoe UI"/>
              </a:rPr>
              <a:t> $1.5M-$2.5M seed.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18-24 months of runway to reach calibrated accuracy, paying design partners and an EU AI Act-ready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4FD1C5"/>
                </a:solidFill>
                <a:latin typeface="Segoe U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Two ML engineers and one platform engineer. Fix fusion calibration, ship GPU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05707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4CC9F0"/>
                </a:solidFill>
                <a:latin typeface="Segoe U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Go-to-market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07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Commercial lead plus design-partner pilots in financial services and media.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25031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8B6CFF"/>
                </a:solidFill>
                <a:latin typeface="Segoe U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Compute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GPU training and inference, licensed evaluation datasets, red-team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4899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44355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B020"/>
                </a:solidFill>
                <a:latin typeface="Segoe U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355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355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Security certification, audit trail and the evidence pack regulated buyers require.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708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WHAT THE MONEY BUYS — MILESTONES WE WILL BE JUDGED 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754880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4901184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D1C5"/>
                </a:solidFill>
                <a:latin typeface="Segoe UI"/>
              </a:rPr>
              <a:t>Month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212080"/>
            <a:ext cx="31007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Ensemble calibration fixed; published accuracy on a public benchmark, third-party reproducible.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6026" y="4754880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45482" y="4901184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D1C5"/>
                </a:solidFill>
                <a:latin typeface="Segoe UI"/>
              </a:rPr>
              <a:t>Month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5482" y="5212080"/>
            <a:ext cx="31007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3-6 design partners live under paid pilots; first enterprise contract signed.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5124" y="4754880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04580" y="4901184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D1C5"/>
                </a:solidFill>
                <a:latin typeface="Segoe UI"/>
              </a:rPr>
              <a:t>Month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4580" y="5212080"/>
            <a:ext cx="31007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EU AI Act-ready deployment, SOC 2 in progress, GPU inference cutting unit cost.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Instrument: priced seed or SAFE. Valuation open — we would rather find the right partner than the highest cap.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1071154" cy="1005840"/>
          </a:xfrm>
          <a:prstGeom prst="rect">
            <a:avLst/>
          </a:prstGeom>
        </p:spPr>
      </p:pic>
      <p:pic>
        <p:nvPicPr>
          <p:cNvPr id="6" name="Picture 5" descr="pr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03320"/>
            <a:ext cx="5577840" cy="2528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755648"/>
            <a:ext cx="6309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FFF6ED"/>
                </a:solidFill>
                <a:latin typeface="Segoe UI"/>
              </a:rPr>
              <a:t>Let's make digital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4FD1C5"/>
                </a:solidFill>
                <a:latin typeface="Segoe UI"/>
              </a:rPr>
              <a:t>evidence provable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6265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6ED"/>
                </a:solidFill>
                <a:latin typeface="Segoe UI"/>
              </a:rPr>
              <a:t>We are looking for a lead investor and three design partners in financial services or media. A live demo takes ten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4005072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REPLACE-WITH-REAL@EMAIL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5445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4507992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github.com/muhammedsayeedurrahman/ai-authenticity-checker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0474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5010912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REPLACE-WITH-REAL-NUMBER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6053328"/>
            <a:ext cx="187451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FFF6ED"/>
                </a:solidFill>
                <a:latin typeface="Segoe UI"/>
              </a:rPr>
              <a:t>Investor Pitch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74650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APPENDIX /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6ED"/>
                </a:solidFill>
                <a:latin typeface="Segoe UI"/>
              </a:rPr>
              <a:t>Every number</a:t>
            </a:r>
            <a:r>
              <a:rPr sz="3400" b="1">
                <a:solidFill>
                  <a:srgbClr val="4FD1C5"/>
                </a:solidFill>
                <a:latin typeface="Segoe UI"/>
              </a:rPr>
              <a:t> has 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3560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Full research file: docs/PROOFYX_COMPLETE_ANALYSIS.md in the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4D9D"/>
                </a:solidFill>
                <a:latin typeface="Segoe UI"/>
              </a:rPr>
              <a:t>THREAT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8M deepfake files by end-2025 — Bright Defense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$893M AI-fraud losses, 22,364 cases — FBI IC3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$280K average incident — IRONSCALES, Fall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60% confident, 0.1% perfect — iProov, Feb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91991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C9F0"/>
                </a:solidFill>
                <a:latin typeface="Segoe UI"/>
              </a:rPr>
              <a:t>MARKET SIZING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$170M to $5.6B, 47.6% CAGR — Market.us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Deepfake AI market — Mordor Intelligence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$15.1B by 2035 — OpenPR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Defence $0.82B — MarketsandMarkets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15887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REGULATION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EU AI Act Art. 50 / 99 — Blackbird.AI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TAKE IT DOWN Act — Stack Cyber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DoD investment — MIT Tech Review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India IT Rules 2026 — docs/COMPLIANCE.md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8615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39783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COMPETITION AND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783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$259M across 26 companies — Tracxn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Doppel $70M Series C — Fortune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Reality Defender $33M — SecurityWeek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GetReal $17.5M — TechCrunch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38928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Every chart is regenerated by scripts/make_pitch_figures.py. ProofyX accuracy and latency figures come from the CorefakeNet evaluation run on 332 held-out samples; the eval harness is in the repository and the run is repeatable 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